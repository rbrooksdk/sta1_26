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b543b36984a0c" /><Relationship Type="http://schemas.openxmlformats.org/officeDocument/2006/relationships/extended-properties" Target="/docProps/app.xml" Id="Rf7ee3aefc8084a8d" /><Relationship Type="http://schemas.openxmlformats.org/officeDocument/2006/relationships/officeDocument" Target="/ppt/presentation.xml" Id="Rf44e1135ef0d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0a12ebdbb4fa1"/>
  </p:sldMasterIdLst>
  <p:sldIdLst>
    <p:sldId xmlns:r="http://schemas.openxmlformats.org/officeDocument/2006/relationships" id="256" r:id="Rd26eea2f90eb4bb5"/>
    <p:sldId xmlns:r="http://schemas.openxmlformats.org/officeDocument/2006/relationships" id="257" r:id="Rf254d6ce9ebb4cd9"/>
    <p:sldId xmlns:r="http://schemas.openxmlformats.org/officeDocument/2006/relationships" id="258" r:id="R21e8baa8a18a4c54"/>
    <p:sldId xmlns:r="http://schemas.openxmlformats.org/officeDocument/2006/relationships" id="259" r:id="Rb644b3c162ac4fd3"/>
    <p:sldId xmlns:r="http://schemas.openxmlformats.org/officeDocument/2006/relationships" id="260" r:id="R409728589cff44b1"/>
    <p:sldId xmlns:r="http://schemas.openxmlformats.org/officeDocument/2006/relationships" id="261" r:id="R021ce5b2bf324eb8"/>
    <p:sldId xmlns:r="http://schemas.openxmlformats.org/officeDocument/2006/relationships" id="262" r:id="Rcdb1f06f0df7496b"/>
    <p:sldId xmlns:r="http://schemas.openxmlformats.org/officeDocument/2006/relationships" id="263" r:id="Rb3a5e7f585894b5c"/>
    <p:sldId xmlns:r="http://schemas.openxmlformats.org/officeDocument/2006/relationships" id="264" r:id="R7d17ba58e05747b3"/>
    <p:sldId xmlns:r="http://schemas.openxmlformats.org/officeDocument/2006/relationships" id="265" r:id="R752b7b7e04554772"/>
    <p:sldId xmlns:r="http://schemas.openxmlformats.org/officeDocument/2006/relationships" id="266" r:id="R6f34ad4525244c47"/>
    <p:sldId xmlns:r="http://schemas.openxmlformats.org/officeDocument/2006/relationships" id="267" r:id="Re748f1c8da4c46c1"/>
    <p:sldId xmlns:r="http://schemas.openxmlformats.org/officeDocument/2006/relationships" id="268" r:id="R3ca18e7e8d5d435a"/>
    <p:sldId xmlns:r="http://schemas.openxmlformats.org/officeDocument/2006/relationships" id="269" r:id="Rb2b0f8b3d1854025"/>
    <p:sldId xmlns:r="http://schemas.openxmlformats.org/officeDocument/2006/relationships" id="270" r:id="R0a33542fac044be5"/>
    <p:sldId xmlns:r="http://schemas.openxmlformats.org/officeDocument/2006/relationships" id="271" r:id="Raa9e73d3b82f4718"/>
    <p:sldId xmlns:r="http://schemas.openxmlformats.org/officeDocument/2006/relationships" id="272" r:id="R61ac387aed8f4d72"/>
    <p:sldId xmlns:r="http://schemas.openxmlformats.org/officeDocument/2006/relationships" id="273" r:id="Rd992fd93fffa4c0b"/>
    <p:sldId xmlns:r="http://schemas.openxmlformats.org/officeDocument/2006/relationships" id="274" r:id="Rc625f58ce91e47f8"/>
    <p:sldId xmlns:r="http://schemas.openxmlformats.org/officeDocument/2006/relationships" id="275" r:id="R4f9349b51c994558"/>
    <p:sldId xmlns:r="http://schemas.openxmlformats.org/officeDocument/2006/relationships" id="276" r:id="R4bf6db7f86e946db"/>
    <p:sldId xmlns:r="http://schemas.openxmlformats.org/officeDocument/2006/relationships" id="277" r:id="R0a6a97e8ddc04b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318d9c8284954" /><Relationship Type="http://schemas.openxmlformats.org/officeDocument/2006/relationships/slideMaster" Target="/ppt/slideMasters/slideMaster1.xml" Id="R9e60a12ebdbb4fa1" /><Relationship Type="http://schemas.openxmlformats.org/officeDocument/2006/relationships/presProps" Target="/ppt/presProps.xml" Id="R7eb65ab31da24cc1" /><Relationship Type="http://schemas.openxmlformats.org/officeDocument/2006/relationships/tableStyles" Target="/ppt/tableStyles.xml" Id="Rbf3477a7ff1f475d" /><Relationship Type="http://schemas.openxmlformats.org/officeDocument/2006/relationships/slide" Target="/ppt/slides/slide1.xml" Id="Rd26eea2f90eb4bb5" /><Relationship Type="http://schemas.openxmlformats.org/officeDocument/2006/relationships/slide" Target="/ppt/slides/slide2.xml" Id="Rf254d6ce9ebb4cd9" /><Relationship Type="http://schemas.openxmlformats.org/officeDocument/2006/relationships/slide" Target="/ppt/slides/slide3.xml" Id="R21e8baa8a18a4c54" /><Relationship Type="http://schemas.openxmlformats.org/officeDocument/2006/relationships/slide" Target="/ppt/slides/slide4.xml" Id="Rb644b3c162ac4fd3" /><Relationship Type="http://schemas.openxmlformats.org/officeDocument/2006/relationships/slide" Target="/ppt/slides/slide5.xml" Id="R409728589cff44b1" /><Relationship Type="http://schemas.openxmlformats.org/officeDocument/2006/relationships/slide" Target="/ppt/slides/slide6.xml" Id="R021ce5b2bf324eb8" /><Relationship Type="http://schemas.openxmlformats.org/officeDocument/2006/relationships/slide" Target="/ppt/slides/slide7.xml" Id="Rcdb1f06f0df7496b" /><Relationship Type="http://schemas.openxmlformats.org/officeDocument/2006/relationships/slide" Target="/ppt/slides/slide8.xml" Id="Rb3a5e7f585894b5c" /><Relationship Type="http://schemas.openxmlformats.org/officeDocument/2006/relationships/slide" Target="/ppt/slides/slide9.xml" Id="R7d17ba58e05747b3" /><Relationship Type="http://schemas.openxmlformats.org/officeDocument/2006/relationships/slide" Target="/ppt/slides/slide10.xml" Id="R752b7b7e04554772" /><Relationship Type="http://schemas.openxmlformats.org/officeDocument/2006/relationships/slide" Target="/ppt/slides/slide11.xml" Id="R6f34ad4525244c47" /><Relationship Type="http://schemas.openxmlformats.org/officeDocument/2006/relationships/slide" Target="/ppt/slides/slide12.xml" Id="Re748f1c8da4c46c1" /><Relationship Type="http://schemas.openxmlformats.org/officeDocument/2006/relationships/slide" Target="/ppt/slides/slide13.xml" Id="R3ca18e7e8d5d435a" /><Relationship Type="http://schemas.openxmlformats.org/officeDocument/2006/relationships/slide" Target="/ppt/slides/slide14.xml" Id="Rb2b0f8b3d1854025" /><Relationship Type="http://schemas.openxmlformats.org/officeDocument/2006/relationships/slide" Target="/ppt/slides/slide15.xml" Id="R0a33542fac044be5" /><Relationship Type="http://schemas.openxmlformats.org/officeDocument/2006/relationships/slide" Target="/ppt/slides/slide16.xml" Id="Raa9e73d3b82f4718" /><Relationship Type="http://schemas.openxmlformats.org/officeDocument/2006/relationships/slide" Target="/ppt/slides/slide17.xml" Id="R61ac387aed8f4d72" /><Relationship Type="http://schemas.openxmlformats.org/officeDocument/2006/relationships/slide" Target="/ppt/slides/slide18.xml" Id="Rd992fd93fffa4c0b" /><Relationship Type="http://schemas.openxmlformats.org/officeDocument/2006/relationships/slide" Target="/ppt/slides/slide19.xml" Id="Rc625f58ce91e47f8" /><Relationship Type="http://schemas.openxmlformats.org/officeDocument/2006/relationships/slide" Target="/ppt/slides/slide20.xml" Id="R4f9349b51c994558" /><Relationship Type="http://schemas.openxmlformats.org/officeDocument/2006/relationships/slide" Target="/ppt/slides/slide21.xml" Id="R4bf6db7f86e946db" /><Relationship Type="http://schemas.openxmlformats.org/officeDocument/2006/relationships/slide" Target="/ppt/slides/slide22.xml" Id="R0a6a97e8ddc04b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0664434a9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458db5a7734ff5" /><Relationship Type="http://schemas.openxmlformats.org/officeDocument/2006/relationships/slideLayout" Target="/ppt/slideLayouts/slideLayout1.xml" Id="R0e7c6a9589254b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7c6a9589254b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ae86273bf49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cc4f249454c5e" /><Relationship Type="http://schemas.openxmlformats.org/officeDocument/2006/relationships/image" Target="/ppt/media/image.png" Id="R5cb2cf2f1fb4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e78c1ab2c44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0ed79e5eb44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b730dc2654d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53ee85a64c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c17cc9c754c2d" /><Relationship Type="http://schemas.openxmlformats.org/officeDocument/2006/relationships/chart" Target="/ppt/slides/charts/chart1.xml" Id="Rb7537a77941c4061" /><Relationship Type="http://schemas.openxmlformats.org/officeDocument/2006/relationships/chart" Target="/ppt/slides/charts/chart2.xml" Id="R9931cb5666bd4251" /><Relationship Type="http://schemas.openxmlformats.org/officeDocument/2006/relationships/chart" Target="/ppt/slides/charts/chart3.xml" Id="R74b1ae8b4a0b4b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9c7a39a5341d6" /><Relationship Type="http://schemas.openxmlformats.org/officeDocument/2006/relationships/image" Target="/ppt/media/image2.png" Id="Rc004850ab5744171" /><Relationship Type="http://schemas.openxmlformats.org/officeDocument/2006/relationships/image" Target="/ppt/media/image3.png" Id="Rf606a9da022042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7a10302bd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b0c0e3e540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ddc34e6d24a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1d80fc8f24d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c4148a72d44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4ada28af94d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b28ab18534d14" /><Relationship Type="http://schemas.openxmlformats.org/officeDocument/2006/relationships/image" Target="/ppt/media/image4.png" Id="R49cb47a7baa74ea9" /><Relationship Type="http://schemas.openxmlformats.org/officeDocument/2006/relationships/image" Target="/ppt/media/image5.png" Id="Re59014ae3fde44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d695609bd46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930802f4e4b09" /><Relationship Type="http://schemas.openxmlformats.org/officeDocument/2006/relationships/image" Target="/ppt/media/image6.png" Id="R89b9b84d0ff64c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214f363d943c6" /><Relationship Type="http://schemas.openxmlformats.org/officeDocument/2006/relationships/image" Target="/ppt/media/image7.png" Id="Ra69c5764b9e345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9da26849427d" /><Relationship Type="http://schemas.openxmlformats.org/officeDocument/2006/relationships/image" Target="/ppt/media/image8.png" Id="R161ecd3d21c74a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9be8ca3d437c" /><Relationship Type="http://schemas.openxmlformats.org/officeDocument/2006/relationships/image" Target="/ppt/media/image9.png" Id="R87655d86f9a347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3a5a367a145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083bec83b4723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37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37</c:v>
              </c:pt>
              <c:pt idx="1">
                <c:v>37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4</c:v>
              </c:pt>
            </c:numLit>
          </c:yVal>
        </c:ser>
        <c:ser>
          <c:idx val="1"/>
          <c:order val="1"/>
          <c:tx>
            <c:v>38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38</c:v>
              </c:pt>
              <c:pt idx="1">
                <c:v>38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yVal>
        </c:ser>
        <c:ser>
          <c:idx val="2"/>
          <c:order val="2"/>
          <c:tx>
            <c:v>39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39</c:v>
              </c:pt>
              <c:pt idx="1">
                <c:v>39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3</c:v>
              </c:pt>
            </c:numLit>
          </c:yVal>
        </c:ser>
        <c:ser>
          <c:idx val="3"/>
          <c:order val="3"/>
          <c:tx>
            <c:v>40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40</c:v>
              </c:pt>
              <c:pt idx="1">
                <c:v>40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5</c:v>
              </c:pt>
            </c:numLit>
          </c:yVal>
        </c:ser>
        <c:ser>
          <c:idx val="4"/>
          <c:order val="4"/>
          <c:tx>
            <c:v>41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41</c:v>
              </c:pt>
              <c:pt idx="1">
                <c:v>41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8</c:v>
              </c:pt>
            </c:numLit>
          </c:yVal>
        </c:ser>
        <c:ser>
          <c:idx val="5"/>
          <c:order val="5"/>
          <c:tx>
            <c:v>42</c:v>
          </c:tx>
          <c:spPr>
            <a:ln xmlns:a="http://schemas.openxmlformats.org/drawingml/2006/main" w="28575">
              <a:solidFill>
                <a:srgbClr val="F08A5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08A5D"/>
              </a:solidFill>
            </c:spPr>
          </c:marker>
          <c:xVal>
            <c:numLit>
              <c:formatCode>General</c:formatCode>
              <c:ptCount val="2"/>
              <c:pt idx="0">
                <c:v>42</c:v>
              </c:pt>
              <c:pt idx="1">
                <c:v>42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yVal>
        </c:ser>
        <c:ser>
          <c:idx val="6"/>
          <c:order val="6"/>
          <c:tx>
            <c:v>44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44</c:v>
              </c:pt>
              <c:pt idx="1">
                <c:v>44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5</c:v>
              </c:pt>
            </c:numLit>
          </c:yVal>
        </c:ser>
        <c:ser>
          <c:idx val="7"/>
          <c:order val="7"/>
          <c:tx>
            <c:v>46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46</c:v>
              </c:pt>
              <c:pt idx="1">
                <c:v>46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2</c:v>
              </c:pt>
            </c:numLit>
          </c:yVal>
        </c:ser>
        <c:ser>
          <c:idx val="8"/>
          <c:order val="8"/>
          <c:tx>
            <c:v>47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47</c:v>
              </c:pt>
              <c:pt idx="1">
                <c:v>47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3</c:v>
              </c:pt>
            </c:numLit>
          </c:yVal>
        </c:ser>
        <c:ser>
          <c:idx val="9"/>
          <c:order val="9"/>
          <c:tx>
            <c:v>50</c:v>
          </c:tx>
          <c:spPr>
            <a:ln xmlns:a="http://schemas.openxmlformats.org/drawingml/2006/main" w="19050">
              <a:solidFill>
                <a:srgbClr val="119DA4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19DA4"/>
              </a:solidFill>
            </c:spPr>
          </c:marker>
          <c:xVal>
            <c:numLit>
              <c:formatCode>General</c:formatCode>
              <c:ptCount val="2"/>
              <c:pt idx="0">
                <c:v>50</c:v>
              </c:pt>
              <c:pt idx="1">
                <c:v>50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091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7B"/>
                </a:solidFill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50"/>
          <c:min val="37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091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7B"/>
                </a:solidFill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7144">
          <a:solidFill>
            <a:srgbClr val="E2E8EA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6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Frequency</c:v>
          </c:tx>
          <c:spPr>
            <a:ln xmlns:a="http://schemas.openxmlformats.org/drawingml/2006/main" w="23813">
              <a:solidFill>
                <a:srgbClr val="F08A5D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08A5D"/>
              </a:solidFill>
            </c:spPr>
          </c:marker>
          <c:dPt>
            <c:idx val="5"/>
            <c:spPr>
              <a:solidFill xmlns:a="http://schemas.openxmlformats.org/drawingml/2006/main">
                <a:srgbClr val="F08A5D"/>
              </a:solidFill>
              <a:ln xmlns:a="http://schemas.openxmlformats.org/drawingml/2006/main" w="19050">
                <a:solidFill>
                  <a:srgbClr val="F08A5D"/>
                </a:solidFill>
                <a:prstDash val="solid"/>
              </a:ln>
            </c:spPr>
          </c:dPt>
          <c:cat>
            <c:numLit>
              <c:formatCode>General</c:formatCode>
              <c:ptCount val="14"/>
              <c:pt idx="0">
                <c:v>37</c:v>
              </c:pt>
              <c:pt idx="1">
                <c:v>38</c:v>
              </c:pt>
              <c:pt idx="2">
                <c:v>39</c:v>
              </c:pt>
              <c:pt idx="3">
                <c:v>40</c:v>
              </c:pt>
              <c:pt idx="4">
                <c:v>41</c:v>
              </c:pt>
              <c:pt idx="5">
                <c:v>42</c:v>
              </c:pt>
              <c:pt idx="6">
                <c:v>43</c:v>
              </c:pt>
              <c:pt idx="7">
                <c:v>44</c:v>
              </c:pt>
              <c:pt idx="8">
                <c:v>45</c:v>
              </c:pt>
              <c:pt idx="9">
                <c:v>46</c:v>
              </c:pt>
              <c:pt idx="10">
                <c:v>47</c:v>
              </c:pt>
              <c:pt idx="11">
                <c:v>48</c:v>
              </c:pt>
              <c:pt idx="12">
                <c:v>49</c:v>
              </c:pt>
              <c:pt idx="13">
                <c:v>50</c:v>
              </c:pt>
            </c:numLit>
          </c:cat>
          <c:val>
            <c:numLit>
              <c:formatCode>General</c:formatCode>
              <c:ptCount val="14"/>
              <c:pt idx="0">
                <c:v>4</c:v>
              </c:pt>
              <c:pt idx="1">
                <c:v>1</c:v>
              </c:pt>
              <c:pt idx="2">
                <c:v>3</c:v>
              </c:pt>
              <c:pt idx="3">
                <c:v>5</c:v>
              </c:pt>
              <c:pt idx="4">
                <c:v>8</c:v>
              </c:pt>
              <c:pt idx="5">
                <c:v>10</c:v>
              </c:pt>
              <c:pt idx="6">
                <c:v>0</c:v>
              </c:pt>
              <c:pt idx="7">
                <c:v>5</c:v>
              </c:pt>
              <c:pt idx="8">
                <c:v>0</c:v>
              </c:pt>
              <c:pt idx="9">
                <c:v>2</c:v>
              </c:pt>
              <c:pt idx="10">
                <c:v>3</c:v>
              </c:pt>
              <c:pt idx="11">
                <c:v>0</c:v>
              </c:pt>
              <c:pt idx="12">
                <c:v>0</c:v>
              </c:pt>
              <c:pt idx="13">
                <c:v>1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091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7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091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7B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7144">
          <a:solidFill>
            <a:srgbClr val="E2E8EA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6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solidFill xmlns:a="http://schemas.openxmlformats.org/drawingml/2006/main">
              <a:srgbClr val="119DA4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F08A5D"/>
              </a:solidFill>
            </c:spPr>
          </c:dPt>
          <c:cat>
            <c:numLit>
              <c:formatCode>General</c:formatCode>
              <c:ptCount val="14"/>
              <c:pt idx="0">
                <c:v>37</c:v>
              </c:pt>
              <c:pt idx="1">
                <c:v>38</c:v>
              </c:pt>
              <c:pt idx="2">
                <c:v>39</c:v>
              </c:pt>
              <c:pt idx="3">
                <c:v>40</c:v>
              </c:pt>
              <c:pt idx="4">
                <c:v>41</c:v>
              </c:pt>
              <c:pt idx="5">
                <c:v>42</c:v>
              </c:pt>
              <c:pt idx="6">
                <c:v>43</c:v>
              </c:pt>
              <c:pt idx="7">
                <c:v>44</c:v>
              </c:pt>
              <c:pt idx="8">
                <c:v>45</c:v>
              </c:pt>
              <c:pt idx="9">
                <c:v>46</c:v>
              </c:pt>
              <c:pt idx="10">
                <c:v>47</c:v>
              </c:pt>
              <c:pt idx="11">
                <c:v>48</c:v>
              </c:pt>
              <c:pt idx="12">
                <c:v>49</c:v>
              </c:pt>
              <c:pt idx="13">
                <c:v>50</c:v>
              </c:pt>
            </c:numLit>
          </c:cat>
          <c:val>
            <c:numLit>
              <c:formatCode>General</c:formatCode>
              <c:ptCount val="14"/>
              <c:pt idx="0">
                <c:v>4</c:v>
              </c:pt>
              <c:pt idx="1">
                <c:v>1</c:v>
              </c:pt>
              <c:pt idx="2">
                <c:v>3</c:v>
              </c:pt>
              <c:pt idx="3">
                <c:v>5</c:v>
              </c:pt>
              <c:pt idx="4">
                <c:v>8</c:v>
              </c:pt>
              <c:pt idx="5">
                <c:v>10</c:v>
              </c:pt>
              <c:pt idx="6">
                <c:v>0</c:v>
              </c:pt>
              <c:pt idx="7">
                <c:v>5</c:v>
              </c:pt>
              <c:pt idx="8">
                <c:v>0</c:v>
              </c:pt>
              <c:pt idx="9">
                <c:v>2</c:v>
              </c:pt>
              <c:pt idx="10">
                <c:v>3</c:v>
              </c:pt>
              <c:pt idx="11">
                <c:v>0</c:v>
              </c:pt>
              <c:pt idx="12">
                <c:v>0</c:v>
              </c:pt>
              <c:pt idx="13">
                <c:v>1</c:v>
              </c:pt>
            </c:numLit>
          </c:val>
        </c:ser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091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7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091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27B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7144">
          <a:solidFill>
            <a:srgbClr val="E2E8EA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6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">
            <a:extLst xmlns:a="http://schemas.openxmlformats.org/drawingml/2006/main">
              <a:ext uri="{FF2B5EF4-FFF2-40B4-BE49-F238E27FC236}">
                <a16:creationId xmlns:a16="http://schemas.microsoft.com/office/drawing/2014/main" id="{DD232106-6F77-4AB6-8921-BF836B6A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85DFC614-31AD-4D64-AAF3-2E11429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STA1 / SESSION 1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EC5B2EBA-7ECD-43B2-86E0-52A7855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525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Data and</a:t>
            </a:r>
          </a:p>
        </p:txBody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010937D3-1809-429B-84F7-0301E171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Descriptive Statistics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518A2577-77E0-482A-849D-22C2248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8C8CE"/>
                </a:solidFill>
                <a:latin typeface="Aptos"/>
                <a:ea typeface="Aptos"/>
                <a:cs typeface="Aptos"/>
              </a:defRPr>
            </a:pPr>
            <a:r>
              <a:t>How to describe an observed engineering sample</a:t>
            </a:r>
          </a:p>
        </p:txBody>
      </p:sp>
      <p:sp>
        <p:nvSpPr>
          <p:cNvPr id="6" name="target-line">
            <a:extLst xmlns:a="http://schemas.openxmlformats.org/drawingml/2006/main">
              <a:ext uri="{FF2B5EF4-FFF2-40B4-BE49-F238E27FC236}">
                <a16:creationId xmlns:a16="http://schemas.microsoft.com/office/drawing/2014/main" id="{11FCCB5E-5ADE-4099-BCD5-4A8CD954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8A5D"/>
            </a:solidFill>
            <a:prstDash val="solid"/>
          </a:ln>
        </p:spPr>
      </p:sp>
      <p:sp>
        <p:nvSpPr>
          <p:cNvPr id="7" name="target-value">
            <a:extLst xmlns:a="http://schemas.openxmlformats.org/drawingml/2006/main">
              <a:ext uri="{FF2B5EF4-FFF2-40B4-BE49-F238E27FC236}">
                <a16:creationId xmlns:a16="http://schemas.microsoft.com/office/drawing/2014/main" id="{FFB2CEE1-4E93-4ED0-91AE-E31921DF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2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250 µm</a:t>
            </a:r>
          </a:p>
        </p:txBody>
      </p:sp>
      <p:sp>
        <p:nvSpPr>
          <p:cNvPr id="8" name="target-caption">
            <a:extLst xmlns:a="http://schemas.openxmlformats.org/drawingml/2006/main">
              <a:ext uri="{FF2B5EF4-FFF2-40B4-BE49-F238E27FC236}">
                <a16:creationId xmlns:a16="http://schemas.microsoft.com/office/drawing/2014/main" id="{72B68F20-BDD2-41A6-8E27-46EE863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B8C8CE"/>
                </a:solidFill>
                <a:latin typeface="Aptos"/>
                <a:ea typeface="Aptos"/>
                <a:cs typeface="Aptos"/>
              </a:defRPr>
            </a:pPr>
            <a:r>
              <a:t>a target is useful—</a:t>
            </a:r>
          </a:p>
          <a:p xmlns:a="http://schemas.openxmlformats.org/drawingml/2006/main">
            <a:pPr algn="r">
              <a:buNone/>
              <a:defRPr sz="1575" b="0">
                <a:solidFill>
                  <a:srgbClr val="B8C8CE"/>
                </a:solidFill>
                <a:latin typeface="Aptos"/>
                <a:ea typeface="Aptos"/>
                <a:cs typeface="Aptos"/>
              </a:defRPr>
            </a:pPr>
            <a:r>
              <a:t>but it is not the whole story</a:t>
            </a:r>
          </a:p>
        </p:txBody>
      </p:sp>
      <p:sp>
        <p:nvSpPr>
          <p:cNvPr id="9" name="title-1">
            <a:extLst xmlns:a="http://schemas.openxmlformats.org/drawingml/2006/main">
              <a:ext uri="{FF2B5EF4-FFF2-40B4-BE49-F238E27FC236}">
                <a16:creationId xmlns:a16="http://schemas.microsoft.com/office/drawing/2014/main" id="{E414F139-F664-48F1-A668-A2BF3785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CENTRE   •   SPREAD   •   SHAPE   •   PATTERN</a:t>
            </a:r>
          </a:p>
        </p:txBody>
      </p:sp>
      <p:sp>
        <p:nvSpPr>
          <p:cNvPr id="10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A579C76E-B90A-4072-A068-DF55D89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05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0858F"/>
                </a:solidFill>
                <a:latin typeface="Aptos"/>
                <a:ea typeface="Aptos"/>
                <a:cs typeface="Aptos"/>
              </a:defRPr>
            </a:pPr>
            <a:r>
              <a:t>22-SLIDE STANDALONE DECK</a:t>
            </a:r>
          </a:p>
        </p:txBody>
      </p:sp>
    </p:spTree>
    <p:extLst>
      <p:ext uri="{BB962C8B-B14F-4D97-AF65-F5344CB8AC3E}">
        <p14:creationId xmlns:p14="http://schemas.microsoft.com/office/powerpoint/2010/main" val="785740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17046E8E-5D2B-4604-9201-79DC5F1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OPENING / RUNNING EXAMPLE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C7EACD5F-FFAA-4370-8DC0-BFFCA73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02 / 22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0618532E-FA68-476E-B58A-4DD0E4F2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93CB3E02-FAD2-4858-8FC6-BE90357C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B7EE93AF-3CAD-4E80-95FA-9E19A5D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A running example: plate thickness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194F9C19-F098-4E37-B3EB-2A92CBAA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9D172EB0-1A7E-473B-BFDF-9FB77F81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CONTEXT</a:t>
            </a:r>
          </a:p>
        </p:txBody>
      </p:sp>
      <p:sp>
        <p:nvSpPr>
          <p:cNvPr id="8" name="context-text">
            <a:extLst xmlns:a="http://schemas.openxmlformats.org/drawingml/2006/main">
              <a:ext uri="{FF2B5EF4-FFF2-40B4-BE49-F238E27FC236}">
                <a16:creationId xmlns:a16="http://schemas.microsoft.com/office/drawing/2014/main" id="{E6062C6E-4022-4D29-A18E-FC3C8F43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An inline sensor records 180 manufactured plates.</a:t>
            </a:r>
          </a:p>
        </p:txBody>
      </p:sp>
      <p:sp>
        <p:nvSpPr>
          <p:cNvPr id="9" name="measure-label">
            <a:extLst xmlns:a="http://schemas.openxmlformats.org/drawingml/2006/main">
              <a:ext uri="{FF2B5EF4-FFF2-40B4-BE49-F238E27FC236}">
                <a16:creationId xmlns:a16="http://schemas.microsoft.com/office/drawing/2014/main" id="{B6BF3FFC-29E6-493C-BF8D-FA143EEE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MEASURE</a:t>
            </a:r>
          </a:p>
        </p:txBody>
      </p:sp>
      <p:sp>
        <p:nvSpPr>
          <p:cNvPr id="10" name="measure-text">
            <a:extLst xmlns:a="http://schemas.openxmlformats.org/drawingml/2006/main">
              <a:ext uri="{FF2B5EF4-FFF2-40B4-BE49-F238E27FC236}">
                <a16:creationId xmlns:a16="http://schemas.microsoft.com/office/drawing/2014/main" id="{B3F94EEE-F855-43CA-811E-1659149C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Thickness in micrometres (µm); target = 250 µm.</a:t>
            </a:r>
          </a:p>
        </p:txBody>
      </p:sp>
      <p:sp>
        <p:nvSpPr>
          <p:cNvPr id="11" name="structure-label">
            <a:extLst xmlns:a="http://schemas.openxmlformats.org/drawingml/2006/main">
              <a:ext uri="{FF2B5EF4-FFF2-40B4-BE49-F238E27FC236}">
                <a16:creationId xmlns:a16="http://schemas.microsoft.com/office/drawing/2014/main" id="{995CF2FB-DD54-4391-AD0F-2A3639A9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STRUCTURE</a:t>
            </a:r>
          </a:p>
        </p:txBody>
      </p:sp>
      <p:sp>
        <p:nvSpPr>
          <p:cNvPr id="12" name="structure-text">
            <a:extLst xmlns:a="http://schemas.openxmlformats.org/drawingml/2006/main">
              <a:ext uri="{FF2B5EF4-FFF2-40B4-BE49-F238E27FC236}">
                <a16:creationId xmlns:a16="http://schemas.microsoft.com/office/drawing/2014/main" id="{B33ED335-BF02-4C08-BD74-D95F6FBE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Production line A or B; sample ID preserves production order.</a:t>
            </a:r>
          </a:p>
        </p:txBody>
      </p:sp>
      <p:sp>
        <p:nvSpPr>
          <p:cNvPr id="13" name="questions-label">
            <a:extLst xmlns:a="http://schemas.openxmlformats.org/drawingml/2006/main">
              <a:ext uri="{FF2B5EF4-FFF2-40B4-BE49-F238E27FC236}">
                <a16:creationId xmlns:a16="http://schemas.microsoft.com/office/drawing/2014/main" id="{027EA68D-A4DC-4ED2-B275-5430AF35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FOUR QUESTIONS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1050E22D-AAEE-4BEC-8B8B-289CA29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1  What value is typical?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2  How much do values vary?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3  What is the distribution shape?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4  Do line or order patterns stand out?</a:t>
            </a:r>
          </a:p>
        </p:txBody>
      </p:sp>
      <p:sp>
        <p:nvSpPr>
          <p:cNvPr id="15" name="overview-surface">
            <a:extLst xmlns:a="http://schemas.openxmlformats.org/drawingml/2006/main">
              <a:ext uri="{FF2B5EF4-FFF2-40B4-BE49-F238E27FC236}">
                <a16:creationId xmlns:a16="http://schemas.microsoft.com/office/drawing/2014/main" id="{90CE9B83-980D-4C6D-ADFC-42FA68F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76400"/>
            <a:ext cx="6600825" cy="42672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2cf2f1fb4469a"/>
          <a:stretch xmlns:a="http://schemas.openxmlformats.org/drawingml/2006/main"/>
        </p:blipFill>
        <p:spPr>
          <a:xfrm xmlns:a="http://schemas.openxmlformats.org/drawingml/2006/main">
            <a:off x="4857750" y="2546733"/>
            <a:ext cx="6334125" cy="25265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3">
            <a:extLst xmlns:a="http://schemas.openxmlformats.org/drawingml/2006/main">
              <a:ext uri="{FF2B5EF4-FFF2-40B4-BE49-F238E27FC236}">
                <a16:creationId xmlns:a16="http://schemas.microsoft.com/office/drawing/2014/main" id="{3D74A65B-66CD-4E5F-BE74-C25E0F3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OPENING / SCOPE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B38CEBD4-4B69-4126-87C0-A277FFC0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03 / 22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65DFFB2E-9F5A-465E-805F-ECA4B001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505E"/>
            </a:solidFill>
            <a:prstDash val="solid"/>
          </a:ln>
        </p:spPr>
      </p:sp>
      <p:sp>
        <p:nvSpPr>
          <p:cNvPr id="4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9973D943-4F2C-4BBD-8797-AE11296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9E14D1B9-00F0-4B48-80C4-C6333B55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Description comes before inference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EF021B1C-44BB-458B-917D-A3A92D34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scope-divider">
            <a:extLst xmlns:a="http://schemas.openxmlformats.org/drawingml/2006/main">
              <a:ext uri="{FF2B5EF4-FFF2-40B4-BE49-F238E27FC236}">
                <a16:creationId xmlns:a16="http://schemas.microsoft.com/office/drawing/2014/main" id="{C9FE0B2A-1C84-4DA4-9A5A-ED741B9B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5966"/>
            </a:solidFill>
            <a:prstDash val="solid"/>
          </a:ln>
        </p:spPr>
      </p:sp>
      <p:sp>
        <p:nvSpPr>
          <p:cNvPr id="8" name="descriptive-number">
            <a:extLst xmlns:a="http://schemas.openxmlformats.org/drawingml/2006/main">
              <a:ext uri="{FF2B5EF4-FFF2-40B4-BE49-F238E27FC236}">
                <a16:creationId xmlns:a16="http://schemas.microsoft.com/office/drawing/2014/main" id="{84DA9B49-605E-461F-97E2-FF6CB1A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9" name="descriptive-label">
            <a:extLst xmlns:a="http://schemas.openxmlformats.org/drawingml/2006/main">
              <a:ext uri="{FF2B5EF4-FFF2-40B4-BE49-F238E27FC236}">
                <a16:creationId xmlns:a16="http://schemas.microsoft.com/office/drawing/2014/main" id="{C426FFE5-0B5B-4D36-B932-E84DC592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DESCRIPTIVE STATISTICS</a:t>
            </a:r>
          </a:p>
        </p:txBody>
      </p:sp>
      <p:sp>
        <p:nvSpPr>
          <p:cNvPr id="10" name="descriptive-text">
            <a:extLst xmlns:a="http://schemas.openxmlformats.org/drawingml/2006/main">
              <a:ext uri="{FF2B5EF4-FFF2-40B4-BE49-F238E27FC236}">
                <a16:creationId xmlns:a16="http://schemas.microsoft.com/office/drawing/2014/main" id="{66A2DF99-8D3F-4DDD-BD58-FA9758DD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DCE5E8"/>
                </a:solidFill>
                <a:latin typeface="Aptos Display"/>
                <a:ea typeface="Aptos Display"/>
                <a:cs typeface="Aptos Display"/>
              </a:defRPr>
            </a:pPr>
            <a:r>
              <a:t>What do these 180 observed measurements look like?</a:t>
            </a:r>
          </a:p>
        </p:txBody>
      </p:sp>
      <p:sp>
        <p:nvSpPr>
          <p:cNvPr id="11" name="inferential-number">
            <a:extLst xmlns:a="http://schemas.openxmlformats.org/drawingml/2006/main">
              <a:ext uri="{FF2B5EF4-FFF2-40B4-BE49-F238E27FC236}">
                <a16:creationId xmlns:a16="http://schemas.microsoft.com/office/drawing/2014/main" id="{8125AC75-7D95-4FF4-916F-E3437BE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2" name="inferential-label">
            <a:extLst xmlns:a="http://schemas.openxmlformats.org/drawingml/2006/main">
              <a:ext uri="{FF2B5EF4-FFF2-40B4-BE49-F238E27FC236}">
                <a16:creationId xmlns:a16="http://schemas.microsoft.com/office/drawing/2014/main" id="{F87A872C-9D68-4D22-8EA4-C7A308C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INFERENTIAL STATISTICS</a:t>
            </a:r>
          </a:p>
        </p:txBody>
      </p:sp>
      <p:sp>
        <p:nvSpPr>
          <p:cNvPr id="13" name="inferential-text">
            <a:extLst xmlns:a="http://schemas.openxmlformats.org/drawingml/2006/main">
              <a:ext uri="{FF2B5EF4-FFF2-40B4-BE49-F238E27FC236}">
                <a16:creationId xmlns:a16="http://schemas.microsoft.com/office/drawing/2014/main" id="{EE0D2C7B-CE70-41E4-BEEF-0BF55056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DCE5E8"/>
                </a:solidFill>
                <a:latin typeface="Aptos Display"/>
                <a:ea typeface="Aptos Display"/>
                <a:cs typeface="Aptos Display"/>
              </a:defRPr>
            </a:pPr>
            <a:r>
              <a:t>What might the wider production process be like?</a:t>
            </a:r>
          </a:p>
        </p:txBody>
      </p:sp>
      <p:sp>
        <p:nvSpPr>
          <p:cNvPr id="14" name="scope-highlight">
            <a:extLst xmlns:a="http://schemas.openxmlformats.org/drawingml/2006/main">
              <a:ext uri="{FF2B5EF4-FFF2-40B4-BE49-F238E27FC236}">
                <a16:creationId xmlns:a16="http://schemas.microsoft.com/office/drawing/2014/main" id="{7B0C6A2E-03A1-46AA-857D-12AC491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6489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32733"/>
          </a:solidFill>
          <a:ln xmlns:a="http://schemas.openxmlformats.org/drawingml/2006/main" w="9525">
            <a:solidFill>
              <a:srgbClr val="38515E"/>
            </a:solidFill>
            <a:prstDash val="solid"/>
          </a:ln>
        </p:spPr>
      </p:sp>
      <p:sp>
        <p:nvSpPr>
          <p:cNvPr id="15" name="scope-highlight-text">
            <a:extLst xmlns:a="http://schemas.openxmlformats.org/drawingml/2006/main">
              <a:ext uri="{FF2B5EF4-FFF2-40B4-BE49-F238E27FC236}">
                <a16:creationId xmlns:a16="http://schemas.microsoft.com/office/drawing/2014/main" id="{1D9E8DE6-2290-480D-8BD1-26B9F4C6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19DA4"/>
                </a:solidFill>
                <a:latin typeface="Aptos"/>
                <a:ea typeface="Aptos"/>
                <a:cs typeface="Aptos"/>
              </a:rPr>
              <a:t>This session stays with description: </a:t>
            </a:r>
            <a:r>
              <a:rPr sz="18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centre, spread, shape, potential outliers and visible patterns.</a:t>
            </a:r>
          </a:p>
        </p:txBody>
      </p:sp>
    </p:spTree>
    <p:extLst>
      <p:ext uri="{BB962C8B-B14F-4D97-AF65-F5344CB8AC3E}">
        <p14:creationId xmlns:p14="http://schemas.microsoft.com/office/powerpoint/2010/main" val="918869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4">
            <a:extLst xmlns:a="http://schemas.openxmlformats.org/drawingml/2006/main">
              <a:ext uri="{FF2B5EF4-FFF2-40B4-BE49-F238E27FC236}">
                <a16:creationId xmlns:a16="http://schemas.microsoft.com/office/drawing/2014/main" id="{229953E1-F719-4E6C-97BD-CAB3BEE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FOUNDATIONS / SCOPE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EE96AB8C-E834-4F37-A46B-5FA5157A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04 / 22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72CBADCD-7D01-4A6C-8319-32AD1DE6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6DA8FAF0-171A-4B0C-925A-759B6DDC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5A2E4F3A-3E6D-4874-A0DF-794B29B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Population, sample, parameter and statistic</a:t>
            </a:r>
          </a:p>
        </p:txBody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EBB42788-2FF5-4210-BA4E-CA6F023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B4566269-A913-4795-80C9-2CACECD1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POPULATION</a:t>
            </a:r>
          </a:p>
        </p:txBody>
      </p:sp>
      <p:sp>
        <p:nvSpPr>
          <p:cNvPr id="8" name="population-text">
            <a:extLst xmlns:a="http://schemas.openxmlformats.org/drawingml/2006/main">
              <a:ext uri="{FF2B5EF4-FFF2-40B4-BE49-F238E27FC236}">
                <a16:creationId xmlns:a16="http://schemas.microsoft.com/office/drawing/2014/main" id="{642E0D4B-F42D-43A9-9349-879DAAC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All units or measurements of interest.</a:t>
            </a:r>
          </a:p>
        </p:txBody>
      </p:sp>
      <p:sp>
        <p:nvSpPr>
          <p:cNvPr id="9" name="sample-label">
            <a:extLst xmlns:a="http://schemas.openxmlformats.org/drawingml/2006/main">
              <a:ext uri="{FF2B5EF4-FFF2-40B4-BE49-F238E27FC236}">
                <a16:creationId xmlns:a16="http://schemas.microsoft.com/office/drawing/2014/main" id="{F305E228-0184-4E16-B444-1D3AB5F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SAMPLE</a:t>
            </a:r>
          </a:p>
        </p:txBody>
      </p:sp>
      <p:sp>
        <p:nvSpPr>
          <p:cNvPr id="10" name="sample-text">
            <a:extLst xmlns:a="http://schemas.openxmlformats.org/drawingml/2006/main">
              <a:ext uri="{FF2B5EF4-FFF2-40B4-BE49-F238E27FC236}">
                <a16:creationId xmlns:a16="http://schemas.microsoft.com/office/drawing/2014/main" id="{B58ABC78-1D9D-41B6-B04B-BC80CA93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The units or measurements actually observed.</a:t>
            </a:r>
          </a:p>
        </p:txBody>
      </p:sp>
      <p:sp>
        <p:nvSpPr>
          <p:cNvPr id="11" name="parameter-label">
            <a:extLst xmlns:a="http://schemas.openxmlformats.org/drawingml/2006/main">
              <a:ext uri="{FF2B5EF4-FFF2-40B4-BE49-F238E27FC236}">
                <a16:creationId xmlns:a16="http://schemas.microsoft.com/office/drawing/2014/main" id="{7BB3BC9F-A61B-4D52-A0FB-AA2F0C7D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PARAMETER</a:t>
            </a:r>
          </a:p>
        </p:txBody>
      </p:sp>
      <p:sp>
        <p:nvSpPr>
          <p:cNvPr id="12" name="parameter-text">
            <a:extLst xmlns:a="http://schemas.openxmlformats.org/drawingml/2006/main">
              <a:ext uri="{FF2B5EF4-FFF2-40B4-BE49-F238E27FC236}">
                <a16:creationId xmlns:a16="http://schemas.microsoft.com/office/drawing/2014/main" id="{9C6C802C-95BF-4C72-A5F6-576B1255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 numerical summary of a population.</a:t>
            </a:r>
          </a:p>
        </p:txBody>
      </p:sp>
      <p:sp>
        <p:nvSpPr>
          <p:cNvPr id="13" name="statistic-label">
            <a:extLst xmlns:a="http://schemas.openxmlformats.org/drawingml/2006/main">
              <a:ext uri="{FF2B5EF4-FFF2-40B4-BE49-F238E27FC236}">
                <a16:creationId xmlns:a16="http://schemas.microsoft.com/office/drawing/2014/main" id="{4EE8093D-4FBF-4D44-A645-583D3DA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STATISTIC</a:t>
            </a:r>
          </a:p>
        </p:txBody>
      </p:sp>
      <p:sp>
        <p:nvSpPr>
          <p:cNvPr id="14" name="statistic-text">
            <a:extLst xmlns:a="http://schemas.openxmlformats.org/drawingml/2006/main">
              <a:ext uri="{FF2B5EF4-FFF2-40B4-BE49-F238E27FC236}">
                <a16:creationId xmlns:a16="http://schemas.microsoft.com/office/drawing/2014/main" id="{DDD1BE8B-5FE3-4893-9B82-0991117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 numerical summary calculated from a sample.</a:t>
            </a:r>
          </a:p>
        </p:txBody>
      </p:sp>
      <p:sp>
        <p:nvSpPr>
          <p:cNvPr id="15" name="population-ellipse">
            <a:extLst xmlns:a="http://schemas.openxmlformats.org/drawingml/2006/main">
              <a:ext uri="{FF2B5EF4-FFF2-40B4-BE49-F238E27FC236}">
                <a16:creationId xmlns:a16="http://schemas.microsoft.com/office/drawing/2014/main" id="{A359F2E6-E4DB-4A84-A78A-AB509F5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57150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EF0"/>
          </a:solidFill>
          <a:ln xmlns:a="http://schemas.openxmlformats.org/drawingml/2006/main" w="19050">
            <a:solidFill>
              <a:srgbClr val="119DA4"/>
            </a:solidFill>
            <a:prstDash val="solid"/>
          </a:ln>
        </p:spPr>
      </p:sp>
      <p:sp>
        <p:nvSpPr>
          <p:cNvPr id="16" name="population-diagram-label">
            <a:extLst xmlns:a="http://schemas.openxmlformats.org/drawingml/2006/main">
              <a:ext uri="{FF2B5EF4-FFF2-40B4-BE49-F238E27FC236}">
                <a16:creationId xmlns:a16="http://schemas.microsoft.com/office/drawing/2014/main" id="{49F7A74C-42BC-4A93-A24F-ACEFA8C3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POPULATION</a:t>
            </a:r>
          </a:p>
        </p:txBody>
      </p:sp>
      <p:sp>
        <p:nvSpPr>
          <p:cNvPr id="17" name="sample-ellipse">
            <a:extLst xmlns:a="http://schemas.openxmlformats.org/drawingml/2006/main">
              <a:ext uri="{FF2B5EF4-FFF2-40B4-BE49-F238E27FC236}">
                <a16:creationId xmlns:a16="http://schemas.microsoft.com/office/drawing/2014/main" id="{4982804A-BF5C-47E3-91F4-E3C21145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2381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08A5D"/>
            </a:solidFill>
            <a:prstDash val="solid"/>
          </a:ln>
        </p:spPr>
      </p:sp>
      <p:sp>
        <p:nvSpPr>
          <p:cNvPr id="18" name="sample-diagram-label">
            <a:extLst xmlns:a="http://schemas.openxmlformats.org/drawingml/2006/main">
              <a:ext uri="{FF2B5EF4-FFF2-40B4-BE49-F238E27FC236}">
                <a16:creationId xmlns:a16="http://schemas.microsoft.com/office/drawing/2014/main" id="{BA648D66-F656-47F2-9467-B300EA3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observed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sample</a:t>
            </a:r>
          </a:p>
        </p:txBody>
      </p:sp>
      <p:sp>
        <p:nvSpPr>
          <p:cNvPr id="19" name="population-dot-650-330">
            <a:extLst xmlns:a="http://schemas.openxmlformats.org/drawingml/2006/main">
              <a:ext uri="{FF2B5EF4-FFF2-40B4-BE49-F238E27FC236}">
                <a16:creationId xmlns:a16="http://schemas.microsoft.com/office/drawing/2014/main" id="{7E39805B-CC26-4984-A2FA-A15D6A2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opulation-dot-700-410">
            <a:extLst xmlns:a="http://schemas.openxmlformats.org/drawingml/2006/main">
              <a:ext uri="{FF2B5EF4-FFF2-40B4-BE49-F238E27FC236}">
                <a16:creationId xmlns:a16="http://schemas.microsoft.com/office/drawing/2014/main" id="{BB566F38-89C7-40F2-B738-93F17CEE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opulation-dot-740-285">
            <a:extLst xmlns:a="http://schemas.openxmlformats.org/drawingml/2006/main">
              <a:ext uri="{FF2B5EF4-FFF2-40B4-BE49-F238E27FC236}">
                <a16:creationId xmlns:a16="http://schemas.microsoft.com/office/drawing/2014/main" id="{57ACE882-1176-4A43-9DCC-89396904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opulation-dot-755-485">
            <a:extLst xmlns:a="http://schemas.openxmlformats.org/drawingml/2006/main">
              <a:ext uri="{FF2B5EF4-FFF2-40B4-BE49-F238E27FC236}">
                <a16:creationId xmlns:a16="http://schemas.microsoft.com/office/drawing/2014/main" id="{2ADB8CBE-CCD0-4019-B016-D4D75B5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9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opulation-dot-840-280">
            <a:extLst xmlns:a="http://schemas.openxmlformats.org/drawingml/2006/main">
              <a:ext uri="{FF2B5EF4-FFF2-40B4-BE49-F238E27FC236}">
                <a16:creationId xmlns:a16="http://schemas.microsoft.com/office/drawing/2014/main" id="{3770D954-1F31-4BE4-9294-CA19327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opulation-dot-1100-350">
            <a:extLst xmlns:a="http://schemas.openxmlformats.org/drawingml/2006/main">
              <a:ext uri="{FF2B5EF4-FFF2-40B4-BE49-F238E27FC236}">
                <a16:creationId xmlns:a16="http://schemas.microsoft.com/office/drawing/2014/main" id="{8C514EAF-F638-491D-B1B2-D03808A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opulation-dot-620-450">
            <a:extLst xmlns:a="http://schemas.openxmlformats.org/drawingml/2006/main">
              <a:ext uri="{FF2B5EF4-FFF2-40B4-BE49-F238E27FC236}">
                <a16:creationId xmlns:a16="http://schemas.microsoft.com/office/drawing/2014/main" id="{79DC04C1-CA2F-4A75-BFB8-55C81DB6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opulation-dot-1070-470">
            <a:extLst xmlns:a="http://schemas.openxmlformats.org/drawingml/2006/main">
              <a:ext uri="{FF2B5EF4-FFF2-40B4-BE49-F238E27FC236}">
                <a16:creationId xmlns:a16="http://schemas.microsoft.com/office/drawing/2014/main" id="{5405C1BF-0A60-4F8E-9A9B-C1805EC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52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8161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5">
            <a:extLst xmlns:a="http://schemas.openxmlformats.org/drawingml/2006/main">
              <a:ext uri="{FF2B5EF4-FFF2-40B4-BE49-F238E27FC236}">
                <a16:creationId xmlns:a16="http://schemas.microsoft.com/office/drawing/2014/main" id="{372F28D0-3C83-4B24-B1AB-6F456A5E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FOUNDATIONS / VARIABLES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D695AF0D-3203-4529-B3F2-F6F524A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05 / 22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57333D3A-E558-4B16-8A32-6719811D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BDAB347A-F053-42C0-8D6C-0E769DA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59FD702-0067-4D2E-80BF-694CDC3F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Each variable has a role</a:t>
            </a:r>
          </a:p>
        </p:txBody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96B95DF7-2319-47BC-B5CC-BFFCB43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role-mark-0">
            <a:extLst xmlns:a="http://schemas.openxmlformats.org/drawingml/2006/main">
              <a:ext uri="{FF2B5EF4-FFF2-40B4-BE49-F238E27FC236}">
                <a16:creationId xmlns:a16="http://schemas.microsoft.com/office/drawing/2014/main" id="{E8306F04-491A-4DB1-9E2C-4CD3ED2B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Q</a:t>
            </a:r>
          </a:p>
        </p:txBody>
      </p:sp>
      <p:sp>
        <p:nvSpPr>
          <p:cNvPr id="8" name="role-rule-0">
            <a:extLst xmlns:a="http://schemas.openxmlformats.org/drawingml/2006/main">
              <a:ext uri="{FF2B5EF4-FFF2-40B4-BE49-F238E27FC236}">
                <a16:creationId xmlns:a16="http://schemas.microsoft.com/office/drawing/2014/main" id="{2CE2D263-47E9-48A7-B171-2741769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0500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9DA4"/>
            </a:solidFill>
            <a:prstDash val="solid"/>
          </a:ln>
        </p:spPr>
      </p:sp>
      <p:sp>
        <p:nvSpPr>
          <p:cNvPr id="9" name="role-label-0">
            <a:extLst xmlns:a="http://schemas.openxmlformats.org/drawingml/2006/main">
              <a:ext uri="{FF2B5EF4-FFF2-40B4-BE49-F238E27FC236}">
                <a16:creationId xmlns:a16="http://schemas.microsoft.com/office/drawing/2014/main" id="{87EFC6D9-0AD9-434D-883C-5B2A2A65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05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QUANTITATIVE</a:t>
            </a:r>
          </a:p>
        </p:txBody>
      </p:sp>
      <p:sp>
        <p:nvSpPr>
          <p:cNvPr id="10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99FD6689-3A1F-482A-9505-D8038F4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thickness_um</a:t>
            </a:r>
          </a:p>
        </p:txBody>
      </p:sp>
      <p:sp>
        <p:nvSpPr>
          <p:cNvPr id="11" name="role-text-0">
            <a:extLst xmlns:a="http://schemas.openxmlformats.org/drawingml/2006/main">
              <a:ext uri="{FF2B5EF4-FFF2-40B4-BE49-F238E27FC236}">
                <a16:creationId xmlns:a16="http://schemas.microsoft.com/office/drawing/2014/main" id="{4F7064FB-0074-49CF-8C1D-15157BE2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 continuous measurement. Mean, median, standard deviation and quartiles are meaningful.</a:t>
            </a:r>
          </a:p>
        </p:txBody>
      </p:sp>
      <p:sp>
        <p:nvSpPr>
          <p:cNvPr id="12" name="role-divider-0">
            <a:extLst xmlns:a="http://schemas.openxmlformats.org/drawingml/2006/main">
              <a:ext uri="{FF2B5EF4-FFF2-40B4-BE49-F238E27FC236}">
                <a16:creationId xmlns:a16="http://schemas.microsoft.com/office/drawing/2014/main" id="{C9CB976E-B8EF-4663-9439-D4DBE62B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6"/>
            </a:solidFill>
            <a:prstDash val="solid"/>
          </a:ln>
        </p:spPr>
      </p:sp>
      <p:sp>
        <p:nvSpPr>
          <p:cNvPr id="13" name="role-mark-1">
            <a:extLst xmlns:a="http://schemas.openxmlformats.org/drawingml/2006/main">
              <a:ext uri="{FF2B5EF4-FFF2-40B4-BE49-F238E27FC236}">
                <a16:creationId xmlns:a16="http://schemas.microsoft.com/office/drawing/2014/main" id="{FB60C96A-4A89-4157-85AE-B4B701CD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C</a:t>
            </a:r>
          </a:p>
        </p:txBody>
      </p:sp>
      <p:sp>
        <p:nvSpPr>
          <p:cNvPr id="14" name="role-rule-1">
            <a:extLst xmlns:a="http://schemas.openxmlformats.org/drawingml/2006/main">
              <a:ext uri="{FF2B5EF4-FFF2-40B4-BE49-F238E27FC236}">
                <a16:creationId xmlns:a16="http://schemas.microsoft.com/office/drawing/2014/main" id="{85D58129-DE23-42F0-8507-91296B0E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1470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8A5D"/>
            </a:solidFill>
            <a:prstDash val="solid"/>
          </a:ln>
        </p:spPr>
      </p:sp>
      <p:sp>
        <p:nvSpPr>
          <p:cNvPr id="15" name="role-label-1">
            <a:extLst xmlns:a="http://schemas.openxmlformats.org/drawingml/2006/main">
              <a:ext uri="{FF2B5EF4-FFF2-40B4-BE49-F238E27FC236}">
                <a16:creationId xmlns:a16="http://schemas.microsoft.com/office/drawing/2014/main" id="{CB34D632-B2CC-43BB-9F16-1C886AD4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14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CATEGORICAL</a:t>
            </a:r>
          </a:p>
        </p:txBody>
      </p:sp>
      <p:sp>
        <p:nvSpPr>
          <p:cNvPr id="16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35F0C6F7-C8C8-4AF2-B20C-2605F165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line</a:t>
            </a:r>
          </a:p>
        </p:txBody>
      </p:sp>
      <p:sp>
        <p:nvSpPr>
          <p:cNvPr id="17" name="role-text-1">
            <a:extLst xmlns:a="http://schemas.openxmlformats.org/drawingml/2006/main">
              <a:ext uri="{FF2B5EF4-FFF2-40B4-BE49-F238E27FC236}">
                <a16:creationId xmlns:a16="http://schemas.microsoft.com/office/drawing/2014/main" id="{682FA302-C906-4A09-86EC-C37D334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 label: A or B. Compare counts or the two observed distributions.</a:t>
            </a:r>
          </a:p>
        </p:txBody>
      </p:sp>
      <p:sp>
        <p:nvSpPr>
          <p:cNvPr id="18" name="role-divider-1">
            <a:extLst xmlns:a="http://schemas.openxmlformats.org/drawingml/2006/main">
              <a:ext uri="{FF2B5EF4-FFF2-40B4-BE49-F238E27FC236}">
                <a16:creationId xmlns:a16="http://schemas.microsoft.com/office/drawing/2014/main" id="{134BD162-D679-42AF-B524-C6DA411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6"/>
            </a:solidFill>
            <a:prstDash val="solid"/>
          </a:ln>
        </p:spPr>
      </p:sp>
      <p:sp>
        <p:nvSpPr>
          <p:cNvPr id="19" name="role-mark-2">
            <a:extLst xmlns:a="http://schemas.openxmlformats.org/drawingml/2006/main">
              <a:ext uri="{FF2B5EF4-FFF2-40B4-BE49-F238E27FC236}">
                <a16:creationId xmlns:a16="http://schemas.microsoft.com/office/drawing/2014/main" id="{4104BC3E-FB87-4FBB-A4D2-CC2F5851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64727B"/>
                </a:solidFill>
                <a:latin typeface="Aptos Display"/>
                <a:ea typeface="Aptos Display"/>
                <a:cs typeface="Aptos Display"/>
              </a:defRPr>
            </a:pPr>
            <a:r>
              <a:t>#</a:t>
            </a:r>
          </a:p>
        </p:txBody>
      </p:sp>
      <p:sp>
        <p:nvSpPr>
          <p:cNvPr id="20" name="role-rule-2">
            <a:extLst xmlns:a="http://schemas.openxmlformats.org/drawingml/2006/main">
              <a:ext uri="{FF2B5EF4-FFF2-40B4-BE49-F238E27FC236}">
                <a16:creationId xmlns:a16="http://schemas.microsoft.com/office/drawing/2014/main" id="{C78C2179-84D8-49F1-AED1-D7B0110F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4727B"/>
            </a:solidFill>
            <a:prstDash val="solid"/>
          </a:ln>
        </p:spPr>
      </p:sp>
      <p:sp>
        <p:nvSpPr>
          <p:cNvPr id="21" name="role-label-2">
            <a:extLst xmlns:a="http://schemas.openxmlformats.org/drawingml/2006/main">
              <a:ext uri="{FF2B5EF4-FFF2-40B4-BE49-F238E27FC236}">
                <a16:creationId xmlns:a16="http://schemas.microsoft.com/office/drawing/2014/main" id="{91741890-F4A7-46D5-9E11-7E0B7D60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ORDER / INDEX</a:t>
            </a:r>
          </a:p>
        </p:txBody>
      </p:sp>
      <p:sp>
        <p:nvSpPr>
          <p:cNvPr id="22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46ABDA23-A834-4A95-A152-6A8E3EA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sample_id</a:t>
            </a:r>
          </a:p>
        </p:txBody>
      </p:sp>
      <p:sp>
        <p:nvSpPr>
          <p:cNvPr id="23" name="role-text-2">
            <a:extLst xmlns:a="http://schemas.openxmlformats.org/drawingml/2006/main">
              <a:ext uri="{FF2B5EF4-FFF2-40B4-BE49-F238E27FC236}">
                <a16:creationId xmlns:a16="http://schemas.microsoft.com/office/drawing/2014/main" id="{95F1CF94-827B-426A-AF90-2EF50E6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768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Production sequence. Useful for detecting drift; not itself a physical measurement.</a:t>
            </a:r>
          </a:p>
        </p:txBody>
      </p:sp>
    </p:spTree>
    <p:extLst>
      <p:ext uri="{BB962C8B-B14F-4D97-AF65-F5344CB8AC3E}">
        <p14:creationId xmlns:p14="http://schemas.microsoft.com/office/powerpoint/2010/main" val="778022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ivider-index-6">
            <a:extLst xmlns:a="http://schemas.openxmlformats.org/drawingml/2006/main">
              <a:ext uri="{FF2B5EF4-FFF2-40B4-BE49-F238E27FC236}">
                <a16:creationId xmlns:a16="http://schemas.microsoft.com/office/drawing/2014/main" id="{469DB5CD-73D1-449B-984F-378350CB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SECTION 01</a:t>
            </a:r>
          </a:p>
        </p:txBody>
      </p:sp>
      <p:sp>
        <p:nvSpPr>
          <p:cNvPr id="2" name="divider-number-6">
            <a:extLst xmlns:a="http://schemas.openxmlformats.org/drawingml/2006/main">
              <a:ext uri="{FF2B5EF4-FFF2-40B4-BE49-F238E27FC236}">
                <a16:creationId xmlns:a16="http://schemas.microsoft.com/office/drawing/2014/main" id="{D2D33896-7911-43AD-8575-F4E91F0A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55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3" name="divider-line-6">
            <a:extLst xmlns:a="http://schemas.openxmlformats.org/drawingml/2006/main">
              <a:ext uri="{FF2B5EF4-FFF2-40B4-BE49-F238E27FC236}">
                <a16:creationId xmlns:a16="http://schemas.microsoft.com/office/drawing/2014/main" id="{D0FA7023-7DE7-4E07-B682-77B50ADC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144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505E"/>
            </a:solidFill>
            <a:prstDash val="solid"/>
          </a:ln>
        </p:spPr>
      </p:sp>
      <p:sp>
        <p:nvSpPr>
          <p:cNvPr id="4" name="divider-title-6">
            <a:extLst xmlns:a="http://schemas.openxmlformats.org/drawingml/2006/main">
              <a:ext uri="{FF2B5EF4-FFF2-40B4-BE49-F238E27FC236}">
                <a16:creationId xmlns:a16="http://schemas.microsoft.com/office/drawing/2014/main" id="{A1226DAF-DB35-41BA-BE96-6E51961E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Represent the sample</a:t>
            </a:r>
          </a:p>
        </p:txBody>
      </p:sp>
      <p:sp>
        <p:nvSpPr>
          <p:cNvPr id="5" name="divider-subtitle-6">
            <a:extLst xmlns:a="http://schemas.openxmlformats.org/drawingml/2006/main">
              <a:ext uri="{FF2B5EF4-FFF2-40B4-BE49-F238E27FC236}">
                <a16:creationId xmlns:a16="http://schemas.microsoft.com/office/drawing/2014/main" id="{B7BD38A7-9913-45CF-AB86-0B1AF1CE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95625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Tables, plots and numerical summaries</a:t>
            </a:r>
          </a:p>
        </p:txBody>
      </p:sp>
      <p:sp>
        <p:nvSpPr>
          <p:cNvPr id="6" name="divider-accent-6">
            <a:extLst xmlns:a="http://schemas.openxmlformats.org/drawingml/2006/main">
              <a:ext uri="{FF2B5EF4-FFF2-40B4-BE49-F238E27FC236}">
                <a16:creationId xmlns:a16="http://schemas.microsoft.com/office/drawing/2014/main" id="{8DA2BB50-396C-4E69-A6BB-7B795DC0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910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9DA4"/>
            </a:solidFill>
            <a:prstDash val="solid"/>
          </a:ln>
        </p:spPr>
      </p:sp>
      <p:sp>
        <p:nvSpPr>
          <p:cNvPr id="7" name="divider-footer-6">
            <a:extLst xmlns:a="http://schemas.openxmlformats.org/drawingml/2006/main">
              <a:ext uri="{FF2B5EF4-FFF2-40B4-BE49-F238E27FC236}">
                <a16:creationId xmlns:a16="http://schemas.microsoft.com/office/drawing/2014/main" id="{261DE094-6A9E-4B6E-A7E1-0065D0A6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E919B"/>
                </a:solidFill>
                <a:latin typeface="Aptos"/>
                <a:ea typeface="Aptos"/>
                <a:cs typeface="Aptos"/>
              </a:defRPr>
            </a:pPr>
            <a: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1836273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7">
            <a:extLst xmlns:a="http://schemas.openxmlformats.org/drawingml/2006/main">
              <a:ext uri="{FF2B5EF4-FFF2-40B4-BE49-F238E27FC236}">
                <a16:creationId xmlns:a16="http://schemas.microsoft.com/office/drawing/2014/main" id="{52E3D682-ACE3-47C6-A67E-EEC5153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FREQUENCY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91E6AF71-ECE5-42DD-9D0B-C91DD83F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07 / 22</a:t>
            </a:r>
          </a:p>
        </p:txBody>
      </p:sp>
      <p:sp>
        <p:nvSpPr>
          <p:cNvPr id="3" name="top-rule-7">
            <a:extLst xmlns:a="http://schemas.openxmlformats.org/drawingml/2006/main">
              <a:ext uri="{FF2B5EF4-FFF2-40B4-BE49-F238E27FC236}">
                <a16:creationId xmlns:a16="http://schemas.microsoft.com/office/drawing/2014/main" id="{BE02952B-F176-4E4C-B82E-FF7DE8C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B161052B-4D50-42B5-8842-02A79BC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950473AF-A27F-4699-9C77-F3E3203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One frequency table, three graphical views</a:t>
            </a:r>
          </a:p>
        </p:txBody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B3924C85-6860-42DD-848B-E65A9F52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18" name="frequency-table-label">
            <a:extLst xmlns:a="http://schemas.openxmlformats.org/drawingml/2006/main">
              <a:ext uri="{FF2B5EF4-FFF2-40B4-BE49-F238E27FC236}">
                <a16:creationId xmlns:a16="http://schemas.microsoft.com/office/drawing/2014/main" id="{75844EE0-F5EA-4AC7-86D5-A206CF50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FREQUENCY TABLE</a:t>
            </a:r>
          </a:p>
        </p:txBody>
      </p:sp>
      <p:sp>
        <p:nvSpPr>
          <p:cNvPr id="19" name="frequency-table-explainer">
            <a:extLst xmlns:a="http://schemas.openxmlformats.org/drawingml/2006/main">
              <a:ext uri="{FF2B5EF4-FFF2-40B4-BE49-F238E27FC236}">
                <a16:creationId xmlns:a16="http://schemas.microsoft.com/office/drawing/2014/main" id="{43C3980A-D1B6-4002-A06D-CB69B6B8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Count how often each observed value occurs.</a:t>
            </a:r>
          </a:p>
        </p:txBody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609600" y="2800350"/>
          <a:ext xmlns:a="http://schemas.openxmlformats.org/drawingml/2006/main" cx="27051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028700"/>
              </a:tblGrid>
              <a:tr h="41910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Salary</a:t>
                      </a:r>
                    </a:p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(×1000 DKK)</a:t>
                      </a:r>
                    </a:p>
                  </a:txBody>
                  <a:tcPr marL="91440" marR="91440" marT="45720" marB="45720" anchor="ctr">
                    <a:solidFill>
                      <a:srgbClr val="0B1722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Frequency</a:t>
                      </a:r>
                    </a:p>
                  </a:txBody>
                  <a:tcPr marL="91440" marR="91440" marT="45720" marB="45720" anchor="ctr">
                    <a:solidFill>
                      <a:srgbClr val="0B1722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08A5D"/>
                          </a:solidFill>
                          <a:latin typeface="Aptos"/>
                          <a:ea typeface="Aptos"/>
                          <a:cs typeface="Aptos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F7E6DB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08A5D"/>
                          </a:solidFill>
                          <a:latin typeface="Aptos"/>
                          <a:ea typeface="Aptos"/>
                          <a:cs typeface="Aptos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7E6DB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46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  <a:tc>
                  <a:txBody>
                    <a:bodyPr lIns="38100" tIns="19050" rIns="38100" bIns="19050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4252F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4F6F4"/>
                    </a:solidFill>
                  </a:tcPr>
                </a:tc>
              </a:tr>
            </a:tbl>
          </a:graphicData>
        </a:graphic>
      </p:graphicFrame>
      <p:sp>
        <p:nvSpPr>
          <p:cNvPr id="21" name="frequency-column-rule">
            <a:extLst xmlns:a="http://schemas.openxmlformats.org/drawingml/2006/main">
              <a:ext uri="{FF2B5EF4-FFF2-40B4-BE49-F238E27FC236}">
                <a16:creationId xmlns:a16="http://schemas.microsoft.com/office/drawing/2014/main" id="{27955192-5431-4125-9A45-953F8212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22" name="stem-label-rule">
            <a:extLst xmlns:a="http://schemas.openxmlformats.org/drawingml/2006/main">
              <a:ext uri="{FF2B5EF4-FFF2-40B4-BE49-F238E27FC236}">
                <a16:creationId xmlns:a16="http://schemas.microsoft.com/office/drawing/2014/main" id="{D62132A0-09BB-4191-9DD9-AAD721D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76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9DA4"/>
            </a:solidFill>
            <a:prstDash val="solid"/>
          </a:ln>
        </p:spPr>
      </p:sp>
      <p:sp>
        <p:nvSpPr>
          <p:cNvPr id="23" name="stem-label">
            <a:extLst xmlns:a="http://schemas.openxmlformats.org/drawingml/2006/main">
              <a:ext uri="{FF2B5EF4-FFF2-40B4-BE49-F238E27FC236}">
                <a16:creationId xmlns:a16="http://schemas.microsoft.com/office/drawing/2014/main" id="{0DEDB76F-A221-412B-AAB3-0E413C40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VERTICAL LINES</a:t>
            </a:r>
          </a:p>
        </p:txBody>
      </p:sp>
      <p:sp>
        <p:nvSpPr>
          <p:cNvPr id="24" name="polygon-label-rule">
            <a:extLst xmlns:a="http://schemas.openxmlformats.org/drawingml/2006/main">
              <a:ext uri="{FF2B5EF4-FFF2-40B4-BE49-F238E27FC236}">
                <a16:creationId xmlns:a16="http://schemas.microsoft.com/office/drawing/2014/main" id="{7E24F20B-F954-482B-9EE8-F5C391FA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76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8A5D"/>
            </a:solidFill>
            <a:prstDash val="solid"/>
          </a:ln>
        </p:spPr>
      </p:sp>
      <p:sp>
        <p:nvSpPr>
          <p:cNvPr id="25" name="polygon-label">
            <a:extLst xmlns:a="http://schemas.openxmlformats.org/drawingml/2006/main">
              <a:ext uri="{FF2B5EF4-FFF2-40B4-BE49-F238E27FC236}">
                <a16:creationId xmlns:a16="http://schemas.microsoft.com/office/drawing/2014/main" id="{493EF606-2E03-43D3-B413-615B459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FREQUENCY POLYGON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3810000" y="2038350"/>
          <a:ext xmlns:a="http://schemas.openxmlformats.org/drawingml/2006/main" cx="3714750" cy="1924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537a77941c4061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7772400" y="2038350"/>
          <a:ext xmlns:a="http://schemas.openxmlformats.org/drawingml/2006/main" cx="3810000" cy="1924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31cb5666bd4251"/>
          </a:graphicData>
        </a:graphic>
      </p:graphicFrame>
      <p:sp>
        <p:nvSpPr>
          <p:cNvPr id="28" name="bar-label-rule">
            <a:extLst xmlns:a="http://schemas.openxmlformats.org/drawingml/2006/main">
              <a:ext uri="{FF2B5EF4-FFF2-40B4-BE49-F238E27FC236}">
                <a16:creationId xmlns:a16="http://schemas.microsoft.com/office/drawing/2014/main" id="{1CA1D0B1-E70A-45BA-9DB3-F5B42101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291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9DA4"/>
            </a:solidFill>
            <a:prstDash val="solid"/>
          </a:ln>
        </p:spPr>
      </p:sp>
      <p:sp>
        <p:nvSpPr>
          <p:cNvPr id="29" name="bar-label">
            <a:extLst xmlns:a="http://schemas.openxmlformats.org/drawingml/2006/main">
              <a:ext uri="{FF2B5EF4-FFF2-40B4-BE49-F238E27FC236}">
                <a16:creationId xmlns:a16="http://schemas.microsoft.com/office/drawing/2014/main" id="{253FA253-7E2D-49F4-B37E-EE501D06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BAR GRAPH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810000" y="4391025"/>
          <a:ext xmlns:a="http://schemas.openxmlformats.org/drawingml/2006/main" cx="7772400" cy="1752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b1ae8b4a0b4b22"/>
          </a:graphicData>
        </a:graphic>
      </p:graphicFrame>
      <p:sp>
        <p:nvSpPr>
          <p:cNvPr id="31" name="frequency-axis-note">
            <a:extLst xmlns:a="http://schemas.openxmlformats.org/drawingml/2006/main">
              <a:ext uri="{FF2B5EF4-FFF2-40B4-BE49-F238E27FC236}">
                <a16:creationId xmlns:a16="http://schemas.microsoft.com/office/drawing/2014/main" id="{CFB902EA-F8B0-4169-B837-EC9D4C8E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91250"/>
            <a:ext cx="777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Horizontal: salary (×1000 DKK)   •   Vertical: frequency</a:t>
            </a:r>
          </a:p>
        </p:txBody>
      </p:sp>
    </p:spTree>
    <p:extLst>
      <p:ext uri="{BB962C8B-B14F-4D97-AF65-F5344CB8AC3E}">
        <p14:creationId xmlns:p14="http://schemas.microsoft.com/office/powerpoint/2010/main" val="636440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8">
            <a:extLst xmlns:a="http://schemas.openxmlformats.org/drawingml/2006/main">
              <a:ext uri="{FF2B5EF4-FFF2-40B4-BE49-F238E27FC236}">
                <a16:creationId xmlns:a16="http://schemas.microsoft.com/office/drawing/2014/main" id="{52E3D682-ACE3-47C6-A67E-EEC5153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PLOTS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91E6AF71-ECE5-42DD-9D0B-C91DD83F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08 / 22</a:t>
            </a:r>
          </a:p>
        </p:txBody>
      </p:sp>
      <p:sp>
        <p:nvSpPr>
          <p:cNvPr id="3" name="top-rule-8">
            <a:extLst xmlns:a="http://schemas.openxmlformats.org/drawingml/2006/main">
              <a:ext uri="{FF2B5EF4-FFF2-40B4-BE49-F238E27FC236}">
                <a16:creationId xmlns:a16="http://schemas.microsoft.com/office/drawing/2014/main" id="{BE02952B-F176-4E4C-B82E-FF7DE8C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B161052B-4D50-42B5-8842-02A79BC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950473AF-A27F-4699-9C77-F3E3203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Histograms group measurements into intervals</a:t>
            </a:r>
          </a:p>
        </p:txBody>
      </p: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B3924C85-6860-42DD-848B-E65A9F52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hist-construct-label">
            <a:extLst xmlns:a="http://schemas.openxmlformats.org/drawingml/2006/main">
              <a:ext uri="{FF2B5EF4-FFF2-40B4-BE49-F238E27FC236}">
                <a16:creationId xmlns:a16="http://schemas.microsoft.com/office/drawing/2014/main" id="{53BBE389-0D7F-497E-9FF8-FD2DDC4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CONSTRUCTION</a:t>
            </a:r>
          </a:p>
        </p:txBody>
      </p:sp>
      <p:sp>
        <p:nvSpPr>
          <p:cNvPr id="8" name="hist-construct-text">
            <a:extLst xmlns:a="http://schemas.openxmlformats.org/drawingml/2006/main">
              <a:ext uri="{FF2B5EF4-FFF2-40B4-BE49-F238E27FC236}">
                <a16:creationId xmlns:a16="http://schemas.microsoft.com/office/drawing/2014/main" id="{A90247EC-5FE6-429C-8474-40706BB9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Choose measurement intervals (bins), then count the observations in each.</a:t>
            </a:r>
          </a:p>
        </p:txBody>
      </p:sp>
      <p:sp>
        <p:nvSpPr>
          <p:cNvPr id="9" name="hist-axes-label">
            <a:extLst xmlns:a="http://schemas.openxmlformats.org/drawingml/2006/main">
              <a:ext uri="{FF2B5EF4-FFF2-40B4-BE49-F238E27FC236}">
                <a16:creationId xmlns:a16="http://schemas.microsoft.com/office/drawing/2014/main" id="{12F051B4-FB7F-4442-9ED5-5B1C19FA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AXES</a:t>
            </a:r>
          </a:p>
        </p:txBody>
      </p:sp>
      <p:sp>
        <p:nvSpPr>
          <p:cNvPr id="10" name="hist-axes-text">
            <a:extLst xmlns:a="http://schemas.openxmlformats.org/drawingml/2006/main">
              <a:ext uri="{FF2B5EF4-FFF2-40B4-BE49-F238E27FC236}">
                <a16:creationId xmlns:a16="http://schemas.microsoft.com/office/drawing/2014/main" id="{8306BC15-39BE-4256-807B-01FCF46B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Horizontal: measurement intervals.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Vertical: frequency or relative frequency.</a:t>
            </a:r>
          </a:p>
        </p:txBody>
      </p:sp>
      <p:sp>
        <p:nvSpPr>
          <p:cNvPr id="11" name="hist-warning-label">
            <a:extLst xmlns:a="http://schemas.openxmlformats.org/drawingml/2006/main">
              <a:ext uri="{FF2B5EF4-FFF2-40B4-BE49-F238E27FC236}">
                <a16:creationId xmlns:a16="http://schemas.microsoft.com/office/drawing/2014/main" id="{AE2C8428-FF41-438F-B9D6-F76A8D62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WHY BIN WIDTH MATTERS</a:t>
            </a:r>
          </a:p>
        </p:txBody>
      </p:sp>
      <p:sp>
        <p:nvSpPr>
          <p:cNvPr id="12" name="hist-warning-text">
            <a:extLst xmlns:a="http://schemas.openxmlformats.org/drawingml/2006/main">
              <a:ext uri="{FF2B5EF4-FFF2-40B4-BE49-F238E27FC236}">
                <a16:creationId xmlns:a16="http://schemas.microsoft.com/office/drawing/2014/main" id="{9FB9F729-4FE5-4D21-8A39-E6BB115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Wide bins hide detail; narrow bins can emphasise noise.</a:t>
            </a:r>
          </a:p>
        </p:txBody>
      </p:sp>
      <p:sp>
        <p:nvSpPr>
          <p:cNvPr id="13" name="book-histogram-surface">
            <a:extLst xmlns:a="http://schemas.openxmlformats.org/drawingml/2006/main">
              <a:ext uri="{FF2B5EF4-FFF2-40B4-BE49-F238E27FC236}">
                <a16:creationId xmlns:a16="http://schemas.microsoft.com/office/drawing/2014/main" id="{C85F7B12-F1D9-44D4-9E0C-F8E347BA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19850" cy="3181350"/>
          </a:xfrm>
          <a:prstGeom xmlns:a="http://schemas.openxmlformats.org/drawingml/2006/main" prst="roundRect">
            <a:avLst>
              <a:gd name="adj" fmla="val 53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4850ab5744171"/>
          <a:stretch xmlns:a="http://schemas.openxmlformats.org/drawingml/2006/main"/>
        </p:blipFill>
        <p:spPr>
          <a:xfrm xmlns:a="http://schemas.openxmlformats.org/drawingml/2006/main">
            <a:off x="5404900" y="1790700"/>
            <a:ext cx="4906449" cy="2952750"/>
          </a:xfrm>
          <a:prstGeom xmlns:a="http://schemas.openxmlformats.org/drawingml/2006/main" prst="rect">
            <a:avLst/>
          </a:prstGeom>
        </p:spPr>
      </p:pic>
      <p:sp>
        <p:nvSpPr>
          <p:cNvPr id="15" name="book-frequency-table-surface">
            <a:extLst xmlns:a="http://schemas.openxmlformats.org/drawingml/2006/main">
              <a:ext uri="{FF2B5EF4-FFF2-40B4-BE49-F238E27FC236}">
                <a16:creationId xmlns:a16="http://schemas.microsoft.com/office/drawing/2014/main" id="{34630826-4DE7-458B-81D6-5577644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867275"/>
            <a:ext cx="47434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6a9da0220423a"/>
          <a:stretch xmlns:a="http://schemas.openxmlformats.org/drawingml/2006/main"/>
        </p:blipFill>
        <p:spPr>
          <a:xfrm xmlns:a="http://schemas.openxmlformats.org/drawingml/2006/main">
            <a:off x="7312007" y="4953000"/>
            <a:ext cx="1797087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40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9">
            <a:extLst xmlns:a="http://schemas.openxmlformats.org/drawingml/2006/main">
              <a:ext uri="{FF2B5EF4-FFF2-40B4-BE49-F238E27FC236}">
                <a16:creationId xmlns:a16="http://schemas.microsoft.com/office/drawing/2014/main" id="{031B6185-4B4B-479A-9385-D8004995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CENTRE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3B8D324E-0360-4BA6-8485-1691AE6F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09 / 22</a:t>
            </a:r>
          </a:p>
        </p:txBody>
      </p:sp>
      <p:sp>
        <p:nvSpPr>
          <p:cNvPr id="3" name="top-rule-9">
            <a:extLst xmlns:a="http://schemas.openxmlformats.org/drawingml/2006/main">
              <a:ext uri="{FF2B5EF4-FFF2-40B4-BE49-F238E27FC236}">
                <a16:creationId xmlns:a16="http://schemas.microsoft.com/office/drawing/2014/main" id="{D45EDC52-0A61-420C-9A92-06C173E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9">
            <a:extLst xmlns:a="http://schemas.openxmlformats.org/drawingml/2006/main">
              <a:ext uri="{FF2B5EF4-FFF2-40B4-BE49-F238E27FC236}">
                <a16:creationId xmlns:a16="http://schemas.microsoft.com/office/drawing/2014/main" id="{38539B07-4784-4AC4-A4E1-DC8A32D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9">
            <a:extLst xmlns:a="http://schemas.openxmlformats.org/drawingml/2006/main">
              <a:ext uri="{FF2B5EF4-FFF2-40B4-BE49-F238E27FC236}">
                <a16:creationId xmlns:a16="http://schemas.microsoft.com/office/drawing/2014/main" id="{EC9D7EB4-9B0A-4064-A1AD-DF594793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Centre answers “What is typical?”</a:t>
            </a:r>
          </a:p>
        </p:txBody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CC3C3CF2-002E-4B5F-BC60-37A0944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centre-symbol-0">
            <a:extLst xmlns:a="http://schemas.openxmlformats.org/drawingml/2006/main">
              <a:ext uri="{FF2B5EF4-FFF2-40B4-BE49-F238E27FC236}">
                <a16:creationId xmlns:a16="http://schemas.microsoft.com/office/drawing/2014/main" id="{12A4AE04-4029-4946-9342-E303304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119DA4"/>
                </a:solidFill>
                <a:latin typeface="Cambria Math"/>
                <a:ea typeface="Cambria Math"/>
                <a:cs typeface="Cambria Math"/>
              </a:defRPr>
            </a:pPr>
            <a:r>
              <a:t>x̄</a:t>
            </a:r>
          </a:p>
        </p:txBody>
      </p:sp>
      <p:sp>
        <p:nvSpPr>
          <p:cNvPr id="8" name="centre-label-0">
            <a:extLst xmlns:a="http://schemas.openxmlformats.org/drawingml/2006/main">
              <a:ext uri="{FF2B5EF4-FFF2-40B4-BE49-F238E27FC236}">
                <a16:creationId xmlns:a16="http://schemas.microsoft.com/office/drawing/2014/main" id="{621A4C1B-2C8B-4117-A6F6-AFA4474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MEAN</a:t>
            </a:r>
          </a:p>
        </p:txBody>
      </p:sp>
      <p:sp>
        <p:nvSpPr>
          <p:cNvPr id="9" name="centre-text-0">
            <a:extLst xmlns:a="http://schemas.openxmlformats.org/drawingml/2006/main">
              <a:ext uri="{FF2B5EF4-FFF2-40B4-BE49-F238E27FC236}">
                <a16:creationId xmlns:a16="http://schemas.microsoft.com/office/drawing/2014/main" id="{B1757535-7341-41F3-AD00-5864AD0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800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Uses every value. Useful for roughly symmetric data, but sensitive to extremes.</a:t>
            </a:r>
          </a:p>
        </p:txBody>
      </p:sp>
      <p:sp>
        <p:nvSpPr>
          <p:cNvPr id="10" name="centre-divider-1">
            <a:extLst xmlns:a="http://schemas.openxmlformats.org/drawingml/2006/main">
              <a:ext uri="{FF2B5EF4-FFF2-40B4-BE49-F238E27FC236}">
                <a16:creationId xmlns:a16="http://schemas.microsoft.com/office/drawing/2014/main" id="{0A4B45C6-DD41-4EB1-A97A-B1A5D1D2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526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11" name="centre-symbol-1">
            <a:extLst xmlns:a="http://schemas.openxmlformats.org/drawingml/2006/main">
              <a:ext uri="{FF2B5EF4-FFF2-40B4-BE49-F238E27FC236}">
                <a16:creationId xmlns:a16="http://schemas.microsoft.com/office/drawing/2014/main" id="{A1D5EF9D-2512-45A0-8312-F61D526C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F08A5D"/>
                </a:solidFill>
                <a:latin typeface="Cambria Math"/>
                <a:ea typeface="Cambria Math"/>
                <a:cs typeface="Cambria Math"/>
              </a:defRPr>
            </a:pPr>
            <a:r>
              <a:t>Q₂</a:t>
            </a:r>
          </a:p>
        </p:txBody>
      </p:sp>
      <p:sp>
        <p:nvSpPr>
          <p:cNvPr id="12" name="centre-label-1">
            <a:extLst xmlns:a="http://schemas.openxmlformats.org/drawingml/2006/main">
              <a:ext uri="{FF2B5EF4-FFF2-40B4-BE49-F238E27FC236}">
                <a16:creationId xmlns:a16="http://schemas.microsoft.com/office/drawing/2014/main" id="{44026220-BE05-45A1-8BEA-BBDD2D7E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MEDIAN</a:t>
            </a:r>
          </a:p>
        </p:txBody>
      </p:sp>
      <p:sp>
        <p:nvSpPr>
          <p:cNvPr id="13" name="centre-text-1">
            <a:extLst xmlns:a="http://schemas.openxmlformats.org/drawingml/2006/main">
              <a:ext uri="{FF2B5EF4-FFF2-40B4-BE49-F238E27FC236}">
                <a16:creationId xmlns:a16="http://schemas.microsoft.com/office/drawing/2014/main" id="{EB16A283-4CA5-44B5-8524-19A4ABAB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2800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The middle ordered value. Resistant to extremes and useful for skewed data.</a:t>
            </a:r>
          </a:p>
        </p:txBody>
      </p:sp>
      <p:sp>
        <p:nvSpPr>
          <p:cNvPr id="14" name="centre-divider-2">
            <a:extLst xmlns:a="http://schemas.openxmlformats.org/drawingml/2006/main">
              <a:ext uri="{FF2B5EF4-FFF2-40B4-BE49-F238E27FC236}">
                <a16:creationId xmlns:a16="http://schemas.microsoft.com/office/drawing/2014/main" id="{3E6D3753-1991-4F7F-A055-0128B4DD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15" name="centre-symbol-2">
            <a:extLst xmlns:a="http://schemas.openxmlformats.org/drawingml/2006/main">
              <a:ext uri="{FF2B5EF4-FFF2-40B4-BE49-F238E27FC236}">
                <a16:creationId xmlns:a16="http://schemas.microsoft.com/office/drawing/2014/main" id="{3D8B261A-BC99-4DC2-AEE5-71EE1B6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47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64727B"/>
                </a:solidFill>
                <a:latin typeface="Cambria Math"/>
                <a:ea typeface="Cambria Math"/>
                <a:cs typeface="Cambria Math"/>
              </a:defRPr>
            </a:pPr>
            <a:r>
              <a:t>Mo</a:t>
            </a:r>
          </a:p>
        </p:txBody>
      </p:sp>
      <p:sp>
        <p:nvSpPr>
          <p:cNvPr id="16" name="centre-label-2">
            <a:extLst xmlns:a="http://schemas.openxmlformats.org/drawingml/2006/main">
              <a:ext uri="{FF2B5EF4-FFF2-40B4-BE49-F238E27FC236}">
                <a16:creationId xmlns:a16="http://schemas.microsoft.com/office/drawing/2014/main" id="{DA12B906-3EED-4C3B-8E64-9086EAC8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MODE</a:t>
            </a:r>
          </a:p>
        </p:txBody>
      </p:sp>
      <p:sp>
        <p:nvSpPr>
          <p:cNvPr id="17" name="centre-text-2">
            <a:extLst xmlns:a="http://schemas.openxmlformats.org/drawingml/2006/main">
              <a:ext uri="{FF2B5EF4-FFF2-40B4-BE49-F238E27FC236}">
                <a16:creationId xmlns:a16="http://schemas.microsoft.com/office/drawing/2014/main" id="{4D5606D9-C513-42B7-9E78-A9CE451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2800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The most frequent value or category. It may be absent or non-unique.</a:t>
            </a:r>
          </a:p>
        </p:txBody>
      </p:sp>
    </p:spTree>
    <p:extLst>
      <p:ext uri="{BB962C8B-B14F-4D97-AF65-F5344CB8AC3E}">
        <p14:creationId xmlns:p14="http://schemas.microsoft.com/office/powerpoint/2010/main" val="1405938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0">
            <a:extLst xmlns:a="http://schemas.openxmlformats.org/drawingml/2006/main">
              <a:ext uri="{FF2B5EF4-FFF2-40B4-BE49-F238E27FC236}">
                <a16:creationId xmlns:a16="http://schemas.microsoft.com/office/drawing/2014/main" id="{F12AD395-719A-4BBB-8FDD-41503B6C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REPRESENTATION / CENTRE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96ABFEDC-68D9-4EEF-9A8A-8826790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10 / 22</a:t>
            </a:r>
          </a:p>
        </p:txBody>
      </p:sp>
      <p:sp>
        <p:nvSpPr>
          <p:cNvPr id="3" name="top-rule-10">
            <a:extLst xmlns:a="http://schemas.openxmlformats.org/drawingml/2006/main">
              <a:ext uri="{FF2B5EF4-FFF2-40B4-BE49-F238E27FC236}">
                <a16:creationId xmlns:a16="http://schemas.microsoft.com/office/drawing/2014/main" id="{327729A3-CD92-4EB8-9E23-C5BC3EC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505E"/>
            </a:solidFill>
            <a:prstDash val="solid"/>
          </a:ln>
        </p:spPr>
      </p:sp>
      <p:sp>
        <p:nvSpPr>
          <p:cNvPr id="4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A9AAA74B-D88D-45A5-B784-09E92614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0">
            <a:extLst xmlns:a="http://schemas.openxmlformats.org/drawingml/2006/main">
              <a:ext uri="{FF2B5EF4-FFF2-40B4-BE49-F238E27FC236}">
                <a16:creationId xmlns:a16="http://schemas.microsoft.com/office/drawing/2014/main" id="{64852A4E-5072-47D7-80B3-B8B2AC0B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One extreme value can move the mean</a:t>
            </a:r>
          </a:p>
        </p:txBody>
      </p:sp>
      <p:sp>
        <p:nvSpPr>
          <p:cNvPr id="6" name="footer-10">
            <a:extLst xmlns:a="http://schemas.openxmlformats.org/drawingml/2006/main">
              <a:ext uri="{FF2B5EF4-FFF2-40B4-BE49-F238E27FC236}">
                <a16:creationId xmlns:a16="http://schemas.microsoft.com/office/drawing/2014/main" id="{50EA0EDC-2EE4-4DAE-BFC3-93E56477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values-before-label">
            <a:extLst xmlns:a="http://schemas.openxmlformats.org/drawingml/2006/main">
              <a:ext uri="{FF2B5EF4-FFF2-40B4-BE49-F238E27FC236}">
                <a16:creationId xmlns:a16="http://schemas.microsoft.com/office/drawing/2014/main" id="{EF37DDF3-3BAA-4595-965E-F01CA94A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1A5AE"/>
                </a:solidFill>
                <a:latin typeface="Aptos"/>
                <a:ea typeface="Aptos"/>
                <a:cs typeface="Aptos"/>
              </a:defRPr>
            </a:pPr>
            <a:r>
              <a:t>ORIGINAL VALUES</a:t>
            </a:r>
          </a:p>
        </p:txBody>
      </p:sp>
      <p:sp>
        <p:nvSpPr>
          <p:cNvPr id="8" name="values-before">
            <a:extLst xmlns:a="http://schemas.openxmlformats.org/drawingml/2006/main">
              <a:ext uri="{FF2B5EF4-FFF2-40B4-BE49-F238E27FC236}">
                <a16:creationId xmlns:a16="http://schemas.microsoft.com/office/drawing/2014/main" id="{73F0311D-209D-43E8-B439-71C18CA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7   9   11   12   13   15   17</a:t>
            </a:r>
          </a:p>
        </p:txBody>
      </p:sp>
      <p:sp>
        <p:nvSpPr>
          <p:cNvPr id="9" name="replacement">
            <a:extLst xmlns:a="http://schemas.openxmlformats.org/drawingml/2006/main">
              <a:ext uri="{FF2B5EF4-FFF2-40B4-BE49-F238E27FC236}">
                <a16:creationId xmlns:a16="http://schemas.microsoft.com/office/drawing/2014/main" id="{8A2F6F9C-C528-43E9-BE93-3262D87C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17</a:t>
            </a:r>
            <a:r>
              <a:rPr sz="3600" b="0" i="0">
                <a:solidFill>
                  <a:srgbClr val="8DA0A9"/>
                </a:solidFill>
                <a:latin typeface="Aptos Display"/>
                <a:ea typeface="Aptos Display"/>
                <a:cs typeface="Aptos Display"/>
              </a:rPr>
              <a:t>   →   </a:t>
            </a:r>
            <a:r>
              <a:rPr sz="4350" b="1" i="0">
                <a:solidFill>
                  <a:srgbClr val="F08A5D"/>
                </a:solidFill>
                <a:latin typeface="Aptos Display"/>
                <a:ea typeface="Aptos Display"/>
                <a:cs typeface="Aptos Display"/>
              </a:rPr>
              <a:t>117</a:t>
            </a:r>
          </a:p>
        </p:txBody>
      </p:sp>
      <p:sp>
        <p:nvSpPr>
          <p:cNvPr id="10" name="mean-result">
            <a:extLst xmlns:a="http://schemas.openxmlformats.org/drawingml/2006/main">
              <a:ext uri="{FF2B5EF4-FFF2-40B4-BE49-F238E27FC236}">
                <a16:creationId xmlns:a16="http://schemas.microsoft.com/office/drawing/2014/main" id="{B2A5DA21-F157-4755-A717-19A0E1F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4762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32733"/>
          </a:solidFill>
          <a:ln xmlns:a="http://schemas.openxmlformats.org/drawingml/2006/main" w="9525">
            <a:solidFill>
              <a:srgbClr val="405765"/>
            </a:solidFill>
            <a:prstDash val="solid"/>
          </a:ln>
        </p:spPr>
      </p:sp>
      <p:sp>
        <p:nvSpPr>
          <p:cNvPr id="11" name="mean-result-text">
            <a:extLst xmlns:a="http://schemas.openxmlformats.org/drawingml/2006/main">
              <a:ext uri="{FF2B5EF4-FFF2-40B4-BE49-F238E27FC236}">
                <a16:creationId xmlns:a16="http://schemas.microsoft.com/office/drawing/2014/main" id="{D204519C-E98F-437A-ADAB-75A378CE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9DA4"/>
                </a:solidFill>
                <a:latin typeface="Aptos"/>
                <a:ea typeface="Aptos"/>
                <a:cs typeface="Aptos"/>
              </a:rPr>
              <a:t>MEAN</a:t>
            </a: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    12  →  26.3</a:t>
            </a:r>
          </a:p>
        </p:txBody>
      </p:sp>
      <p:sp>
        <p:nvSpPr>
          <p:cNvPr id="12" name="median-result">
            <a:extLst xmlns:a="http://schemas.openxmlformats.org/drawingml/2006/main">
              <a:ext uri="{FF2B5EF4-FFF2-40B4-BE49-F238E27FC236}">
                <a16:creationId xmlns:a16="http://schemas.microsoft.com/office/drawing/2014/main" id="{EC79241C-C16A-4E41-B383-F3244818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762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32733"/>
          </a:solidFill>
          <a:ln xmlns:a="http://schemas.openxmlformats.org/drawingml/2006/main" w="9525">
            <a:solidFill>
              <a:srgbClr val="405765"/>
            </a:solidFill>
            <a:prstDash val="solid"/>
          </a:ln>
        </p:spPr>
      </p:sp>
      <p:sp>
        <p:nvSpPr>
          <p:cNvPr id="13" name="median-result-text">
            <a:extLst xmlns:a="http://schemas.openxmlformats.org/drawingml/2006/main">
              <a:ext uri="{FF2B5EF4-FFF2-40B4-BE49-F238E27FC236}">
                <a16:creationId xmlns:a16="http://schemas.microsoft.com/office/drawing/2014/main" id="{A6FE9478-2AF8-4419-B203-24F4F0F1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08A5D"/>
                </a:solidFill>
                <a:latin typeface="Aptos"/>
                <a:ea typeface="Aptos"/>
                <a:cs typeface="Aptos"/>
              </a:rPr>
              <a:t>MEDIAN</a:t>
            </a: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    12  →  12</a:t>
            </a:r>
          </a:p>
        </p:txBody>
      </p:sp>
      <p:sp>
        <p:nvSpPr>
          <p:cNvPr id="14" name="extreme-conclusion">
            <a:extLst xmlns:a="http://schemas.openxmlformats.org/drawingml/2006/main">
              <a:ext uri="{FF2B5EF4-FFF2-40B4-BE49-F238E27FC236}">
                <a16:creationId xmlns:a16="http://schemas.microsoft.com/office/drawing/2014/main" id="{86EF0BCE-C8E2-4BC4-880E-95B19F2E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The median depends on order; the mean is an arithmetic balance point.</a:t>
            </a:r>
          </a:p>
        </p:txBody>
      </p:sp>
    </p:spTree>
    <p:extLst>
      <p:ext uri="{BB962C8B-B14F-4D97-AF65-F5344CB8AC3E}">
        <p14:creationId xmlns:p14="http://schemas.microsoft.com/office/powerpoint/2010/main" val="15745685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1">
            <a:extLst xmlns:a="http://schemas.openxmlformats.org/drawingml/2006/main">
              <a:ext uri="{FF2B5EF4-FFF2-40B4-BE49-F238E27FC236}">
                <a16:creationId xmlns:a16="http://schemas.microsoft.com/office/drawing/2014/main" id="{2A39A9F4-DEA1-439C-A733-5D2F2CAD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SPREAD</a:t>
            </a:r>
          </a:p>
        </p:txBody>
      </p:sp>
      <p:sp>
        <p:nvSpPr>
          <p:cNvPr id="2" name="number-11">
            <a:extLst xmlns:a="http://schemas.openxmlformats.org/drawingml/2006/main">
              <a:ext uri="{FF2B5EF4-FFF2-40B4-BE49-F238E27FC236}">
                <a16:creationId xmlns:a16="http://schemas.microsoft.com/office/drawing/2014/main" id="{C9AB5BE4-EA01-4A5D-8C95-E4194D5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11 / 22</a:t>
            </a:r>
          </a:p>
        </p:txBody>
      </p:sp>
      <p:sp>
        <p:nvSpPr>
          <p:cNvPr id="3" name="top-rule-11">
            <a:extLst xmlns:a="http://schemas.openxmlformats.org/drawingml/2006/main">
              <a:ext uri="{FF2B5EF4-FFF2-40B4-BE49-F238E27FC236}">
                <a16:creationId xmlns:a16="http://schemas.microsoft.com/office/drawing/2014/main" id="{5F5DD094-FDAF-4801-81DE-F861A49E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EAE47E9E-EB6D-42F8-AB69-987F6DA8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1">
            <a:extLst xmlns:a="http://schemas.openxmlformats.org/drawingml/2006/main">
              <a:ext uri="{FF2B5EF4-FFF2-40B4-BE49-F238E27FC236}">
                <a16:creationId xmlns:a16="http://schemas.microsoft.com/office/drawing/2014/main" id="{C887570D-AA0E-4722-89E4-0817FB3D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Spread is about distance from the centre</a:t>
            </a:r>
          </a:p>
        </p:txBody>
      </p:sp>
      <p:sp>
        <p:nvSpPr>
          <p:cNvPr id="6" name="footer-11">
            <a:extLst xmlns:a="http://schemas.openxmlformats.org/drawingml/2006/main">
              <a:ext uri="{FF2B5EF4-FFF2-40B4-BE49-F238E27FC236}">
                <a16:creationId xmlns:a16="http://schemas.microsoft.com/office/drawing/2014/main" id="{7319EA66-365B-44F2-919C-BB42B11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spread-baseline">
            <a:extLst xmlns:a="http://schemas.openxmlformats.org/drawingml/2006/main">
              <a:ext uri="{FF2B5EF4-FFF2-40B4-BE49-F238E27FC236}">
                <a16:creationId xmlns:a16="http://schemas.microsoft.com/office/drawing/2014/main" id="{CB06EABC-2B01-4060-BDAF-66D41541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6"/>
            </a:solidFill>
            <a:prstDash val="solid"/>
          </a:ln>
        </p:spPr>
      </p:sp>
      <p:sp>
        <p:nvSpPr>
          <p:cNvPr id="8" name="spread-tick-0">
            <a:extLst xmlns:a="http://schemas.openxmlformats.org/drawingml/2006/main">
              <a:ext uri="{FF2B5EF4-FFF2-40B4-BE49-F238E27FC236}">
                <a16:creationId xmlns:a16="http://schemas.microsoft.com/office/drawing/2014/main" id="{003CB314-E893-46EC-A611-AE28A703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read-no-0">
            <a:extLst xmlns:a="http://schemas.openxmlformats.org/drawingml/2006/main">
              <a:ext uri="{FF2B5EF4-FFF2-40B4-BE49-F238E27FC236}">
                <a16:creationId xmlns:a16="http://schemas.microsoft.com/office/drawing/2014/main" id="{515BF613-3D2E-4DF3-9AFE-14D08444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10" name="spread-label-0">
            <a:extLst xmlns:a="http://schemas.openxmlformats.org/drawingml/2006/main">
              <a:ext uri="{FF2B5EF4-FFF2-40B4-BE49-F238E27FC236}">
                <a16:creationId xmlns:a16="http://schemas.microsoft.com/office/drawing/2014/main" id="{B02F12BC-14F5-425F-82F6-B67A24F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RANGE</a:t>
            </a:r>
          </a:p>
        </p:txBody>
      </p:sp>
      <p:sp>
        <p:nvSpPr>
          <p:cNvPr id="11" name="spread-text-0">
            <a:extLst xmlns:a="http://schemas.openxmlformats.org/drawingml/2006/main">
              <a:ext uri="{FF2B5EF4-FFF2-40B4-BE49-F238E27FC236}">
                <a16:creationId xmlns:a16="http://schemas.microsoft.com/office/drawing/2014/main" id="{42D6861B-8D89-4585-AF76-C2972192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maximum − minimum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quick, but controlled by two values</a:t>
            </a:r>
          </a:p>
        </p:txBody>
      </p:sp>
      <p:sp>
        <p:nvSpPr>
          <p:cNvPr id="12" name="spread-tick-1">
            <a:extLst xmlns:a="http://schemas.openxmlformats.org/drawingml/2006/main">
              <a:ext uri="{FF2B5EF4-FFF2-40B4-BE49-F238E27FC236}">
                <a16:creationId xmlns:a16="http://schemas.microsoft.com/office/drawing/2014/main" id="{9BAC05A8-0200-4213-991B-D9F29BD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read-no-1">
            <a:extLst xmlns:a="http://schemas.openxmlformats.org/drawingml/2006/main">
              <a:ext uri="{FF2B5EF4-FFF2-40B4-BE49-F238E27FC236}">
                <a16:creationId xmlns:a16="http://schemas.microsoft.com/office/drawing/2014/main" id="{944DAFA9-A5EE-45AD-BC9E-1052E7FD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4" name="spread-label-1">
            <a:extLst xmlns:a="http://schemas.openxmlformats.org/drawingml/2006/main">
              <a:ext uri="{FF2B5EF4-FFF2-40B4-BE49-F238E27FC236}">
                <a16:creationId xmlns:a16="http://schemas.microsoft.com/office/drawing/2014/main" id="{57FD636B-7368-43D8-BD64-4007574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19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DEVIATION</a:t>
            </a:r>
          </a:p>
        </p:txBody>
      </p:sp>
      <p:sp>
        <p:nvSpPr>
          <p:cNvPr id="15" name="spread-text-1">
            <a:extLst xmlns:a="http://schemas.openxmlformats.org/drawingml/2006/main">
              <a:ext uri="{FF2B5EF4-FFF2-40B4-BE49-F238E27FC236}">
                <a16:creationId xmlns:a16="http://schemas.microsoft.com/office/drawing/2014/main" id="{37924A09-2D89-4EAE-BFA5-1905E158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xᵢ − x̄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one value’s signed distance from the mean</a:t>
            </a:r>
          </a:p>
        </p:txBody>
      </p:sp>
      <p:sp>
        <p:nvSpPr>
          <p:cNvPr id="16" name="spread-tick-2">
            <a:extLst xmlns:a="http://schemas.openxmlformats.org/drawingml/2006/main">
              <a:ext uri="{FF2B5EF4-FFF2-40B4-BE49-F238E27FC236}">
                <a16:creationId xmlns:a16="http://schemas.microsoft.com/office/drawing/2014/main" id="{4147AA35-4A2D-446C-811C-B82FE96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read-no-2">
            <a:extLst xmlns:a="http://schemas.openxmlformats.org/drawingml/2006/main">
              <a:ext uri="{FF2B5EF4-FFF2-40B4-BE49-F238E27FC236}">
                <a16:creationId xmlns:a16="http://schemas.microsoft.com/office/drawing/2014/main" id="{16F6BB93-FAC5-404B-9711-961D30A2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18" name="spread-label-2">
            <a:extLst xmlns:a="http://schemas.openxmlformats.org/drawingml/2006/main">
              <a:ext uri="{FF2B5EF4-FFF2-40B4-BE49-F238E27FC236}">
                <a16:creationId xmlns:a16="http://schemas.microsoft.com/office/drawing/2014/main" id="{CD3818BD-0E70-4D2E-A265-2DA79204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STANDARD DEVIATION</a:t>
            </a:r>
          </a:p>
        </p:txBody>
      </p:sp>
      <p:sp>
        <p:nvSpPr>
          <p:cNvPr id="19" name="spread-text-2">
            <a:extLst xmlns:a="http://schemas.openxmlformats.org/drawingml/2006/main">
              <a:ext uri="{FF2B5EF4-FFF2-40B4-BE49-F238E27FC236}">
                <a16:creationId xmlns:a16="http://schemas.microsoft.com/office/drawing/2014/main" id="{300A491E-4EB5-4040-ACED-F81B4E5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Cambria Math"/>
                <a:ea typeface="Cambria Math"/>
                <a:cs typeface="Cambria Math"/>
              </a:defRPr>
            </a:pPr>
            <a:r>
              <a:t>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Cambria Math"/>
                <a:ea typeface="Cambria Math"/>
                <a:cs typeface="Cambria Math"/>
              </a:defRPr>
            </a:pPr>
            <a:r>
              <a:t>a typical distance, in the original unit</a:t>
            </a:r>
          </a:p>
        </p:txBody>
      </p:sp>
      <p:sp>
        <p:nvSpPr>
          <p:cNvPr id="20" name="spread-tick-3">
            <a:extLst xmlns:a="http://schemas.openxmlformats.org/drawingml/2006/main">
              <a:ext uri="{FF2B5EF4-FFF2-40B4-BE49-F238E27FC236}">
                <a16:creationId xmlns:a16="http://schemas.microsoft.com/office/drawing/2014/main" id="{E1178D80-04F0-4170-95E2-033C260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0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read-no-3">
            <a:extLst xmlns:a="http://schemas.openxmlformats.org/drawingml/2006/main">
              <a:ext uri="{FF2B5EF4-FFF2-40B4-BE49-F238E27FC236}">
                <a16:creationId xmlns:a16="http://schemas.microsoft.com/office/drawing/2014/main" id="{2745854F-C465-44F5-8039-7D89AC88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04</a:t>
            </a:r>
          </a:p>
        </p:txBody>
      </p:sp>
      <p:sp>
        <p:nvSpPr>
          <p:cNvPr id="22" name="spread-label-3">
            <a:extLst xmlns:a="http://schemas.openxmlformats.org/drawingml/2006/main">
              <a:ext uri="{FF2B5EF4-FFF2-40B4-BE49-F238E27FC236}">
                <a16:creationId xmlns:a16="http://schemas.microsoft.com/office/drawing/2014/main" id="{63A1525A-4D71-40DD-8712-FEBAD59C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19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VARIANCE</a:t>
            </a:r>
          </a:p>
        </p:txBody>
      </p:sp>
      <p:sp>
        <p:nvSpPr>
          <p:cNvPr id="23" name="spread-text-3">
            <a:extLst xmlns:a="http://schemas.openxmlformats.org/drawingml/2006/main">
              <a:ext uri="{FF2B5EF4-FFF2-40B4-BE49-F238E27FC236}">
                <a16:creationId xmlns:a16="http://schemas.microsoft.com/office/drawing/2014/main" id="{9EDA3911-0C0D-4318-A0F7-341195F3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Cambria Math"/>
                <a:ea typeface="Cambria Math"/>
                <a:cs typeface="Cambria Math"/>
              </a:defRPr>
            </a:pPr>
            <a:r>
              <a:t>s²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64727B"/>
                </a:solidFill>
                <a:latin typeface="Cambria Math"/>
                <a:ea typeface="Cambria Math"/>
                <a:cs typeface="Cambria Math"/>
              </a:defRPr>
            </a:pPr>
            <a:r>
              <a:t>the corresponding squared measure</a:t>
            </a:r>
          </a:p>
        </p:txBody>
      </p:sp>
      <p:sp>
        <p:nvSpPr>
          <p:cNvPr id="24" name="spread-engineering">
            <a:extLst xmlns:a="http://schemas.openxmlformats.org/drawingml/2006/main">
              <a:ext uri="{FF2B5EF4-FFF2-40B4-BE49-F238E27FC236}">
                <a16:creationId xmlns:a16="http://schemas.microsoft.com/office/drawing/2014/main" id="{CE6E90B9-A6BC-48CA-A33D-08369800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A process can be centred on target and still vary too much.</a:t>
            </a:r>
          </a:p>
        </p:txBody>
      </p:sp>
    </p:spTree>
    <p:extLst>
      <p:ext uri="{BB962C8B-B14F-4D97-AF65-F5344CB8AC3E}">
        <p14:creationId xmlns:p14="http://schemas.microsoft.com/office/powerpoint/2010/main" val="1436279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2">
            <a:extLst xmlns:a="http://schemas.openxmlformats.org/drawingml/2006/main">
              <a:ext uri="{FF2B5EF4-FFF2-40B4-BE49-F238E27FC236}">
                <a16:creationId xmlns:a16="http://schemas.microsoft.com/office/drawing/2014/main" id="{35ED019F-7FC2-412D-AC75-0C62F78B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SPREAD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97DAE938-BDD5-4984-8A06-5F8E516B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12 / 22</a:t>
            </a:r>
          </a:p>
        </p:txBody>
      </p:sp>
      <p:sp>
        <p:nvSpPr>
          <p:cNvPr id="3" name="top-rule-12">
            <a:extLst xmlns:a="http://schemas.openxmlformats.org/drawingml/2006/main">
              <a:ext uri="{FF2B5EF4-FFF2-40B4-BE49-F238E27FC236}">
                <a16:creationId xmlns:a16="http://schemas.microsoft.com/office/drawing/2014/main" id="{4696050B-FC39-44F0-82BE-05E31A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505E"/>
            </a:solidFill>
            <a:prstDash val="solid"/>
          </a:ln>
        </p:spPr>
      </p:sp>
      <p:sp>
        <p:nvSpPr>
          <p:cNvPr id="4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6C1CE968-5FB8-4D72-9CE3-608AA56C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B0AFF345-ECEF-4544-98CE-F4897DE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Sample variance uses n − 1</a:t>
            </a:r>
          </a:p>
        </p:txBody>
      </p:sp>
      <p:sp>
        <p:nvSpPr>
          <p:cNvPr id="6" name="footer-12">
            <a:extLst xmlns:a="http://schemas.openxmlformats.org/drawingml/2006/main">
              <a:ext uri="{FF2B5EF4-FFF2-40B4-BE49-F238E27FC236}">
                <a16:creationId xmlns:a16="http://schemas.microsoft.com/office/drawing/2014/main" id="{8DE98BEC-AAE4-452B-8148-F011AC54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variance-label">
            <a:extLst xmlns:a="http://schemas.openxmlformats.org/drawingml/2006/main">
              <a:ext uri="{FF2B5EF4-FFF2-40B4-BE49-F238E27FC236}">
                <a16:creationId xmlns:a16="http://schemas.microsoft.com/office/drawing/2014/main" id="{429995DC-DDBC-4763-A6DD-E59BE3E3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SAMPLE VARIANCE</a:t>
            </a:r>
          </a:p>
        </p:txBody>
      </p:sp>
      <p:sp>
        <p:nvSpPr>
          <p:cNvPr id="8" name="variance-formula">
            <a:extLst xmlns:a="http://schemas.openxmlformats.org/drawingml/2006/main">
              <a:ext uri="{FF2B5EF4-FFF2-40B4-BE49-F238E27FC236}">
                <a16:creationId xmlns:a16="http://schemas.microsoft.com/office/drawing/2014/main" id="{52468E1C-CA54-42EC-93DF-F96E52A6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p>
                    <m:e>
                      <m:r>
                        <m:t>s</m:t>
                      </m:r>
                    </m:e>
                    <m:sup>
                      <m:r>
                        <m:t>2</m:t>
                      </m:r>
                    </m:sup>
                  </m:sSup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n</m:t>
                      </m:r>
                      <m:r>
                        <m:t>-</m:t>
                      </m:r>
                      <m:r>
                        <m:t>1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t>=</m:t>
                      </m:r>
                      <m:r>
                        <m:t>1</m:t>
                      </m:r>
                    </m:sub>
                    <m:sup>
                      <m:r>
                        <m:t>n</m:t>
                      </m:r>
                    </m:sup>
                    <m:e>
                      <m: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-</m:t>
                      </m:r>
                      <m:bar>
                        <m:barPr>
                          <m:pos m:val="top"/>
                        </m:barPr>
                        <m:e>
                          <m:r>
                            <m:t>x</m:t>
                          </m:r>
                        </m:e>
                      </m:bar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e>
                  </m:nary>
                </m:oMath>
              </m:oMathPara>
            </a14:m>
          </a:p>
        </p:txBody>
      </p:sp>
      <p:sp>
        <p:nvSpPr>
          <p:cNvPr id="9" name="variance-rule">
            <a:extLst xmlns:a="http://schemas.openxmlformats.org/drawingml/2006/main">
              <a:ext uri="{FF2B5EF4-FFF2-40B4-BE49-F238E27FC236}">
                <a16:creationId xmlns:a16="http://schemas.microsoft.com/office/drawing/2014/main" id="{5FFBCE50-8A5E-4428-9692-26C948F5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765"/>
            </a:solidFill>
            <a:prstDash val="solid"/>
          </a:ln>
        </p:spPr>
      </p:sp>
      <p:sp>
        <p:nvSpPr>
          <p:cNvPr id="10" name="variance-symbol-0">
            <a:extLst xmlns:a="http://schemas.openxmlformats.org/drawingml/2006/main">
              <a:ext uri="{FF2B5EF4-FFF2-40B4-BE49-F238E27FC236}">
                <a16:creationId xmlns:a16="http://schemas.microsoft.com/office/drawing/2014/main" id="{4D0216FB-B7B4-4921-AC10-A4EB454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08A5D"/>
                </a:solidFill>
                <a:latin typeface="Cambria Math"/>
                <a:ea typeface="Cambria Math"/>
                <a:cs typeface="Cambria Math"/>
              </a:defRPr>
            </a:pPr>
            <a:r>
              <a:t>n</a:t>
            </a:r>
          </a:p>
        </p:txBody>
      </p:sp>
      <p:sp>
        <p:nvSpPr>
          <p:cNvPr id="11" name="variance-def-0">
            <a:extLst xmlns:a="http://schemas.openxmlformats.org/drawingml/2006/main">
              <a:ext uri="{FF2B5EF4-FFF2-40B4-BE49-F238E27FC236}">
                <a16:creationId xmlns:a16="http://schemas.microsoft.com/office/drawing/2014/main" id="{F4A75CB1-30D4-4520-9943-BC4179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number of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observations</a:t>
            </a:r>
          </a:p>
        </p:txBody>
      </p:sp>
      <p:sp>
        <p:nvSpPr>
          <p:cNvPr id="12" name="variance-symbol-1">
            <a:extLst xmlns:a="http://schemas.openxmlformats.org/drawingml/2006/main">
              <a:ext uri="{FF2B5EF4-FFF2-40B4-BE49-F238E27FC236}">
                <a16:creationId xmlns:a16="http://schemas.microsoft.com/office/drawing/2014/main" id="{177A8A25-42D1-4C00-8B4B-7F9FF163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433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08A5D"/>
                </a:solidFill>
                <a:latin typeface="Cambria Math"/>
                <a:ea typeface="Cambria Math"/>
                <a:cs typeface="Cambria Math"/>
              </a:defRPr>
            </a:pPr>
            <a:r>
              <a:t>xᵢ</a:t>
            </a:r>
          </a:p>
        </p:txBody>
      </p:sp>
      <p:sp>
        <p:nvSpPr>
          <p:cNvPr id="13" name="variance-def-1">
            <a:extLst xmlns:a="http://schemas.openxmlformats.org/drawingml/2006/main">
              <a:ext uri="{FF2B5EF4-FFF2-40B4-BE49-F238E27FC236}">
                <a16:creationId xmlns:a16="http://schemas.microsoft.com/office/drawing/2014/main" id="{2DB3FA4B-5FC2-4578-B2EC-4C5E7DB6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101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observation i</a:t>
            </a:r>
          </a:p>
        </p:txBody>
      </p:sp>
      <p:sp>
        <p:nvSpPr>
          <p:cNvPr id="14" name="variance-symbol-2">
            <a:extLst xmlns:a="http://schemas.openxmlformats.org/drawingml/2006/main">
              <a:ext uri="{FF2B5EF4-FFF2-40B4-BE49-F238E27FC236}">
                <a16:creationId xmlns:a16="http://schemas.microsoft.com/office/drawing/2014/main" id="{14067127-AC56-4412-B984-FE8F80A5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433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08A5D"/>
                </a:solidFill>
                <a:latin typeface="Cambria Math"/>
                <a:ea typeface="Cambria Math"/>
                <a:cs typeface="Cambria Math"/>
              </a:defRPr>
            </a:pPr>
            <a:r>
              <a:t>x̄</a:t>
            </a:r>
          </a:p>
        </p:txBody>
      </p:sp>
      <p:sp>
        <p:nvSpPr>
          <p:cNvPr id="15" name="variance-def-2">
            <a:extLst xmlns:a="http://schemas.openxmlformats.org/drawingml/2006/main">
              <a:ext uri="{FF2B5EF4-FFF2-40B4-BE49-F238E27FC236}">
                <a16:creationId xmlns:a16="http://schemas.microsoft.com/office/drawing/2014/main" id="{4142033C-6ACB-4B3A-85E6-11E956AA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01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sample mean</a:t>
            </a:r>
          </a:p>
        </p:txBody>
      </p:sp>
      <p:sp>
        <p:nvSpPr>
          <p:cNvPr id="16" name="variance-explain">
            <a:extLst xmlns:a="http://schemas.openxmlformats.org/drawingml/2006/main">
              <a:ext uri="{FF2B5EF4-FFF2-40B4-BE49-F238E27FC236}">
                <a16:creationId xmlns:a16="http://schemas.microsoft.com/office/drawing/2014/main" id="{854254D2-EBD6-4A74-8202-E897E7CA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626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DCE5E8"/>
                </a:solidFill>
                <a:latin typeface="Aptos"/>
                <a:ea typeface="Aptos"/>
                <a:cs typeface="Aptos"/>
              </a:defRPr>
            </a:pPr>
            <a:r>
              <a:t>n − 1 adjusts for estimating the unknown population mean from the same sample.</a:t>
            </a:r>
          </a:p>
        </p:txBody>
      </p:sp>
    </p:spTree>
    <p:extLst>
      <p:ext uri="{BB962C8B-B14F-4D97-AF65-F5344CB8AC3E}">
        <p14:creationId xmlns:p14="http://schemas.microsoft.com/office/powerpoint/2010/main" val="931693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3">
            <a:extLst xmlns:a="http://schemas.openxmlformats.org/drawingml/2006/main">
              <a:ext uri="{FF2B5EF4-FFF2-40B4-BE49-F238E27FC236}">
                <a16:creationId xmlns:a16="http://schemas.microsoft.com/office/drawing/2014/main" id="{C28A3C79-789C-4533-98D7-15D3A55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RESISTANT SPREAD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E9745F56-FB32-49F5-82CD-E061421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13 / 22</a:t>
            </a:r>
          </a:p>
        </p:txBody>
      </p:sp>
      <p:sp>
        <p:nvSpPr>
          <p:cNvPr id="3" name="top-rule-13">
            <a:extLst xmlns:a="http://schemas.openxmlformats.org/drawingml/2006/main">
              <a:ext uri="{FF2B5EF4-FFF2-40B4-BE49-F238E27FC236}">
                <a16:creationId xmlns:a16="http://schemas.microsoft.com/office/drawing/2014/main" id="{DF8DE20D-59ED-49E3-B560-F7F24368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13">
            <a:extLst xmlns:a="http://schemas.openxmlformats.org/drawingml/2006/main">
              <a:ext uri="{FF2B5EF4-FFF2-40B4-BE49-F238E27FC236}">
                <a16:creationId xmlns:a16="http://schemas.microsoft.com/office/drawing/2014/main" id="{1145E667-837F-4F78-B6EF-334F301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3">
            <a:extLst xmlns:a="http://schemas.openxmlformats.org/drawingml/2006/main">
              <a:ext uri="{FF2B5EF4-FFF2-40B4-BE49-F238E27FC236}">
                <a16:creationId xmlns:a16="http://schemas.microsoft.com/office/drawing/2014/main" id="{C2250DEF-DFD2-467B-A730-2C5FC68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Quartiles describe the middle 50%</a:t>
            </a:r>
          </a:p>
        </p:txBody>
      </p:sp>
      <p:sp>
        <p:nvSpPr>
          <p:cNvPr id="6" name="footer-13">
            <a:extLst xmlns:a="http://schemas.openxmlformats.org/drawingml/2006/main">
              <a:ext uri="{FF2B5EF4-FFF2-40B4-BE49-F238E27FC236}">
                <a16:creationId xmlns:a16="http://schemas.microsoft.com/office/drawing/2014/main" id="{B856D9F1-5F87-481B-99AA-D1B51D7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quartile-explain">
            <a:extLst xmlns:a="http://schemas.openxmlformats.org/drawingml/2006/main">
              <a:ext uri="{FF2B5EF4-FFF2-40B4-BE49-F238E27FC236}">
                <a16:creationId xmlns:a16="http://schemas.microsoft.com/office/drawing/2014/main" id="{67C0CEA8-A710-43CF-A6D0-517179A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381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Order the observations, then locate three landmarks.</a:t>
            </a:r>
          </a:p>
        </p:txBody>
      </p:sp>
      <p:sp>
        <p:nvSpPr>
          <p:cNvPr id="8" name="quartile-formula">
            <a:extLst xmlns:a="http://schemas.openxmlformats.org/drawingml/2006/main">
              <a:ext uri="{FF2B5EF4-FFF2-40B4-BE49-F238E27FC236}">
                <a16:creationId xmlns:a16="http://schemas.microsoft.com/office/drawing/2014/main" id="{932F7FA3-4AC4-4B4E-BD6A-54C6797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450" b="1">
                <a:solidFill>
                  <a:srgbClr val="119DA4"/>
                </a:solidFill>
                <a:latin typeface="Cambria Math"/>
                <a:ea typeface="Cambria Math"/>
                <a:cs typeface="Cambria Math"/>
              </a:defRPr>
            </a:pPr>
            <a:r>
              <a:t>IQR = Q₃ − Q₁</a:t>
            </a:r>
          </a:p>
        </p:txBody>
      </p:sp>
      <p:sp>
        <p:nvSpPr>
          <p:cNvPr id="9" name="quartile-axis">
            <a:extLst xmlns:a="http://schemas.openxmlformats.org/drawingml/2006/main">
              <a:ext uri="{FF2B5EF4-FFF2-40B4-BE49-F238E27FC236}">
                <a16:creationId xmlns:a16="http://schemas.microsoft.com/office/drawing/2014/main" id="{7BFAA489-CEF8-4039-AB2D-AB2C633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52F"/>
            </a:solidFill>
            <a:prstDash val="solid"/>
          </a:ln>
        </p:spPr>
      </p:sp>
      <p:sp>
        <p:nvSpPr>
          <p:cNvPr id="10" name="quartile-band">
            <a:extLst xmlns:a="http://schemas.openxmlformats.org/drawingml/2006/main">
              <a:ext uri="{FF2B5EF4-FFF2-40B4-BE49-F238E27FC236}">
                <a16:creationId xmlns:a16="http://schemas.microsoft.com/office/drawing/2014/main" id="{C8669F7C-8860-4301-9C26-CDD45016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4762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 w="14288">
            <a:solidFill>
              <a:srgbClr val="119DA4"/>
            </a:solidFill>
            <a:prstDash val="solid"/>
          </a:ln>
        </p:spPr>
      </p:sp>
      <p:sp>
        <p:nvSpPr>
          <p:cNvPr id="11" name="quartile-tick-0">
            <a:extLst xmlns:a="http://schemas.openxmlformats.org/drawingml/2006/main">
              <a:ext uri="{FF2B5EF4-FFF2-40B4-BE49-F238E27FC236}">
                <a16:creationId xmlns:a16="http://schemas.microsoft.com/office/drawing/2014/main" id="{D60BB346-23A7-471B-AD52-978133B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9DA4"/>
            </a:solidFill>
            <a:prstDash val="solid"/>
          </a:ln>
        </p:spPr>
      </p:sp>
      <p:sp>
        <p:nvSpPr>
          <p:cNvPr id="12" name="quartile-label-0">
            <a:extLst xmlns:a="http://schemas.openxmlformats.org/drawingml/2006/main">
              <a:ext uri="{FF2B5EF4-FFF2-40B4-BE49-F238E27FC236}">
                <a16:creationId xmlns:a16="http://schemas.microsoft.com/office/drawing/2014/main" id="{68F90F14-8909-42B5-95AE-F72CD9F2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9DA4"/>
                </a:solidFill>
                <a:latin typeface="Cambria Math"/>
                <a:ea typeface="Cambria Math"/>
                <a:cs typeface="Cambria Math"/>
              </a:defRPr>
            </a:pPr>
            <a:r>
              <a:t>Q₁</a:t>
            </a:r>
          </a:p>
        </p:txBody>
      </p:sp>
      <p:sp>
        <p:nvSpPr>
          <p:cNvPr id="13" name="quartile-pct-0">
            <a:extLst xmlns:a="http://schemas.openxmlformats.org/drawingml/2006/main">
              <a:ext uri="{FF2B5EF4-FFF2-40B4-BE49-F238E27FC236}">
                <a16:creationId xmlns:a16="http://schemas.microsoft.com/office/drawing/2014/main" id="{F9289670-71CB-4C80-9729-4FDC57DE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25%</a:t>
            </a:r>
          </a:p>
        </p:txBody>
      </p:sp>
      <p:sp>
        <p:nvSpPr>
          <p:cNvPr id="14" name="quartile-tick-1">
            <a:extLst xmlns:a="http://schemas.openxmlformats.org/drawingml/2006/main">
              <a:ext uri="{FF2B5EF4-FFF2-40B4-BE49-F238E27FC236}">
                <a16:creationId xmlns:a16="http://schemas.microsoft.com/office/drawing/2014/main" id="{F36D6219-B1BA-4D4A-8C12-3C5AC787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8A5D"/>
            </a:solidFill>
            <a:prstDash val="solid"/>
          </a:ln>
        </p:spPr>
      </p:sp>
      <p:sp>
        <p:nvSpPr>
          <p:cNvPr id="15" name="quartile-label-1">
            <a:extLst xmlns:a="http://schemas.openxmlformats.org/drawingml/2006/main">
              <a:ext uri="{FF2B5EF4-FFF2-40B4-BE49-F238E27FC236}">
                <a16:creationId xmlns:a16="http://schemas.microsoft.com/office/drawing/2014/main" id="{7042D557-F8C2-4857-BD02-F456E62F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76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08A5D"/>
                </a:solidFill>
                <a:latin typeface="Cambria Math"/>
                <a:ea typeface="Cambria Math"/>
                <a:cs typeface="Cambria Math"/>
              </a:defRPr>
            </a:pPr>
            <a:r>
              <a:t>Q₂</a:t>
            </a:r>
          </a:p>
        </p:txBody>
      </p:sp>
      <p:sp>
        <p:nvSpPr>
          <p:cNvPr id="16" name="quartile-pct-1">
            <a:extLst xmlns:a="http://schemas.openxmlformats.org/drawingml/2006/main">
              <a:ext uri="{FF2B5EF4-FFF2-40B4-BE49-F238E27FC236}">
                <a16:creationId xmlns:a16="http://schemas.microsoft.com/office/drawing/2014/main" id="{4D976E39-39A8-47CF-8163-2B28374F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33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50% / median</a:t>
            </a:r>
          </a:p>
        </p:txBody>
      </p:sp>
      <p:sp>
        <p:nvSpPr>
          <p:cNvPr id="17" name="quartile-tick-2">
            <a:extLst xmlns:a="http://schemas.openxmlformats.org/drawingml/2006/main">
              <a:ext uri="{FF2B5EF4-FFF2-40B4-BE49-F238E27FC236}">
                <a16:creationId xmlns:a16="http://schemas.microsoft.com/office/drawing/2014/main" id="{D836D904-F977-4865-B7E2-70174C19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9DA4"/>
            </a:solidFill>
            <a:prstDash val="solid"/>
          </a:ln>
        </p:spPr>
      </p:sp>
      <p:sp>
        <p:nvSpPr>
          <p:cNvPr id="18" name="quartile-label-2">
            <a:extLst xmlns:a="http://schemas.openxmlformats.org/drawingml/2006/main">
              <a:ext uri="{FF2B5EF4-FFF2-40B4-BE49-F238E27FC236}">
                <a16:creationId xmlns:a16="http://schemas.microsoft.com/office/drawing/2014/main" id="{11CA3023-5D6E-4B50-81C8-9B1CE07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9DA4"/>
                </a:solidFill>
                <a:latin typeface="Cambria Math"/>
                <a:ea typeface="Cambria Math"/>
                <a:cs typeface="Cambria Math"/>
              </a:defRPr>
            </a:pPr>
            <a:r>
              <a:t>Q₃</a:t>
            </a:r>
          </a:p>
        </p:txBody>
      </p:sp>
      <p:sp>
        <p:nvSpPr>
          <p:cNvPr id="19" name="quartile-pct-2">
            <a:extLst xmlns:a="http://schemas.openxmlformats.org/drawingml/2006/main">
              <a:ext uri="{FF2B5EF4-FFF2-40B4-BE49-F238E27FC236}">
                <a16:creationId xmlns:a16="http://schemas.microsoft.com/office/drawing/2014/main" id="{114537F0-8201-4882-B4C1-234DFEF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33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75%</a:t>
            </a:r>
          </a:p>
        </p:txBody>
      </p:sp>
      <p:sp>
        <p:nvSpPr>
          <p:cNvPr id="20" name="quartile-middle">
            <a:extLst xmlns:a="http://schemas.openxmlformats.org/drawingml/2006/main">
              <a:ext uri="{FF2B5EF4-FFF2-40B4-BE49-F238E27FC236}">
                <a16:creationId xmlns:a16="http://schemas.microsoft.com/office/drawing/2014/main" id="{63B2E80A-D42C-48A1-A300-486B8C2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middle half of the observed sample</a:t>
            </a:r>
          </a:p>
        </p:txBody>
      </p:sp>
      <p:sp>
        <p:nvSpPr>
          <p:cNvPr id="21" name="quartile-note">
            <a:extLst xmlns:a="http://schemas.openxmlformats.org/drawingml/2006/main">
              <a:ext uri="{FF2B5EF4-FFF2-40B4-BE49-F238E27FC236}">
                <a16:creationId xmlns:a16="http://schemas.microsoft.com/office/drawing/2014/main" id="{F240F3B9-E866-4DD9-A535-02EE87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Quartile algorithms can differ slightly; state the convention when exact agreement matters.</a:t>
            </a:r>
          </a:p>
        </p:txBody>
      </p:sp>
    </p:spTree>
    <p:extLst>
      <p:ext uri="{BB962C8B-B14F-4D97-AF65-F5344CB8AC3E}">
        <p14:creationId xmlns:p14="http://schemas.microsoft.com/office/powerpoint/2010/main" val="468326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4">
            <a:extLst xmlns:a="http://schemas.openxmlformats.org/drawingml/2006/main">
              <a:ext uri="{FF2B5EF4-FFF2-40B4-BE49-F238E27FC236}">
                <a16:creationId xmlns:a16="http://schemas.microsoft.com/office/drawing/2014/main" id="{FBC57A44-D1DA-42BB-BAD1-6D69DE4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REPRESENTATION / POTENTIAL OUTLIERS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53816DBA-6595-41EA-BFDC-F0702DBD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14 / 22</a:t>
            </a:r>
          </a:p>
        </p:txBody>
      </p:sp>
      <p:sp>
        <p:nvSpPr>
          <p:cNvPr id="3" name="top-rule-14">
            <a:extLst xmlns:a="http://schemas.openxmlformats.org/drawingml/2006/main">
              <a:ext uri="{FF2B5EF4-FFF2-40B4-BE49-F238E27FC236}">
                <a16:creationId xmlns:a16="http://schemas.microsoft.com/office/drawing/2014/main" id="{7D067975-94E3-4091-A905-4B9293C6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505E"/>
            </a:solidFill>
            <a:prstDash val="solid"/>
          </a:ln>
        </p:spPr>
      </p:sp>
      <p:sp>
        <p:nvSpPr>
          <p:cNvPr id="4" name="top-accent-14">
            <a:extLst xmlns:a="http://schemas.openxmlformats.org/drawingml/2006/main">
              <a:ext uri="{FF2B5EF4-FFF2-40B4-BE49-F238E27FC236}">
                <a16:creationId xmlns:a16="http://schemas.microsoft.com/office/drawing/2014/main" id="{72BEA63F-3D06-4837-AA6C-B0A07C54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5E0199CA-B5A4-4A69-8606-3D92192E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IQR fences flag potential outliers</a:t>
            </a:r>
          </a:p>
        </p:txBody>
      </p:sp>
      <p:sp>
        <p:nvSpPr>
          <p:cNvPr id="6" name="footer-14">
            <a:extLst xmlns:a="http://schemas.openxmlformats.org/drawingml/2006/main">
              <a:ext uri="{FF2B5EF4-FFF2-40B4-BE49-F238E27FC236}">
                <a16:creationId xmlns:a16="http://schemas.microsoft.com/office/drawing/2014/main" id="{F21BFC08-23A0-49EB-AD3F-6829783C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lower-fence-label">
            <a:extLst xmlns:a="http://schemas.openxmlformats.org/drawingml/2006/main">
              <a:ext uri="{FF2B5EF4-FFF2-40B4-BE49-F238E27FC236}">
                <a16:creationId xmlns:a16="http://schemas.microsoft.com/office/drawing/2014/main" id="{28BA82B0-0EE6-43A1-825A-A2CF67EA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LOWER FENCE</a:t>
            </a:r>
          </a:p>
        </p:txBody>
      </p:sp>
      <p:sp>
        <p:nvSpPr>
          <p:cNvPr id="8" name="lower-fence">
            <a:extLst xmlns:a="http://schemas.openxmlformats.org/drawingml/2006/main">
              <a:ext uri="{FF2B5EF4-FFF2-40B4-BE49-F238E27FC236}">
                <a16:creationId xmlns:a16="http://schemas.microsoft.com/office/drawing/2014/main" id="{28BA893D-A155-472E-9514-06F243DE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t>Q₁ − 1.5 × IQR</a:t>
            </a:r>
          </a:p>
        </p:txBody>
      </p:sp>
      <p:sp>
        <p:nvSpPr>
          <p:cNvPr id="9" name="upper-fence-label">
            <a:extLst xmlns:a="http://schemas.openxmlformats.org/drawingml/2006/main">
              <a:ext uri="{FF2B5EF4-FFF2-40B4-BE49-F238E27FC236}">
                <a16:creationId xmlns:a16="http://schemas.microsoft.com/office/drawing/2014/main" id="{BFD9043E-8FB7-4A79-963E-7BCC34B7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UPPER FENCE</a:t>
            </a:r>
          </a:p>
        </p:txBody>
      </p:sp>
      <p:sp>
        <p:nvSpPr>
          <p:cNvPr id="10" name="upper-fence">
            <a:extLst xmlns:a="http://schemas.openxmlformats.org/drawingml/2006/main">
              <a:ext uri="{FF2B5EF4-FFF2-40B4-BE49-F238E27FC236}">
                <a16:creationId xmlns:a16="http://schemas.microsoft.com/office/drawing/2014/main" id="{4F46D54D-9D4F-45C3-9310-2BAC2E03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6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t>Q₃ + 1.5 × IQR</a:t>
            </a:r>
          </a:p>
        </p:txBody>
      </p:sp>
      <p:sp>
        <p:nvSpPr>
          <p:cNvPr id="11" name="outlier-band">
            <a:extLst xmlns:a="http://schemas.openxmlformats.org/drawingml/2006/main">
              <a:ext uri="{FF2B5EF4-FFF2-40B4-BE49-F238E27FC236}">
                <a16:creationId xmlns:a16="http://schemas.microsoft.com/office/drawing/2014/main" id="{18430056-0833-44FC-B700-F99560B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8953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6DB"/>
          </a:solidFill>
          <a:ln xmlns:a="http://schemas.openxmlformats.org/drawingml/2006/main" w="19050">
            <a:solidFill>
              <a:srgbClr val="F08A5D"/>
            </a:solidFill>
            <a:prstDash val="solid"/>
          </a:ln>
        </p:spPr>
      </p:sp>
      <p:sp>
        <p:nvSpPr>
          <p:cNvPr id="12" name="outlier-band-text">
            <a:extLst xmlns:a="http://schemas.openxmlformats.org/drawingml/2006/main">
              <a:ext uri="{FF2B5EF4-FFF2-40B4-BE49-F238E27FC236}">
                <a16:creationId xmlns:a16="http://schemas.microsoft.com/office/drawing/2014/main" id="{0D07933A-8F33-4F96-8005-5296323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08A5D"/>
                </a:solidFill>
                <a:latin typeface="Aptos Display"/>
                <a:ea typeface="Aptos Display"/>
                <a:cs typeface="Aptos Display"/>
              </a:rPr>
              <a:t>Potential outlier</a:t>
            </a:r>
            <a:r>
              <a:rPr sz="2250" b="0" i="0">
                <a:solidFill>
                  <a:srgbClr val="14252F"/>
                </a:solidFill>
                <a:latin typeface="Aptos Display"/>
                <a:ea typeface="Aptos Display"/>
                <a:cs typeface="Aptos Display"/>
              </a:rPr>
              <a:t>  =  an observation outside either fence</a:t>
            </a:r>
          </a:p>
        </p:txBody>
      </p:sp>
      <p:sp>
        <p:nvSpPr>
          <p:cNvPr id="13" name="outlier-action">
            <a:extLst xmlns:a="http://schemas.openxmlformats.org/drawingml/2006/main">
              <a:ext uri="{FF2B5EF4-FFF2-40B4-BE49-F238E27FC236}">
                <a16:creationId xmlns:a16="http://schemas.microsoft.com/office/drawing/2014/main" id="{7C96E3C3-D318-4457-B47D-5D5ED48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FLAG  →  INVESTIGATE  →  EXPLAIN</a:t>
            </a:r>
          </a:p>
        </p:txBody>
      </p:sp>
      <p:sp>
        <p:nvSpPr>
          <p:cNvPr id="14" name="outlier-action-note">
            <a:extLst xmlns:a="http://schemas.openxmlformats.org/drawingml/2006/main">
              <a:ext uri="{FF2B5EF4-FFF2-40B4-BE49-F238E27FC236}">
                <a16:creationId xmlns:a16="http://schemas.microsoft.com/office/drawing/2014/main" id="{D88360E8-D21D-4724-ABFC-80EDAC6F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769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A flag is not an instruction to delete the observation.</a:t>
            </a:r>
          </a:p>
        </p:txBody>
      </p:sp>
    </p:spTree>
    <p:extLst>
      <p:ext uri="{BB962C8B-B14F-4D97-AF65-F5344CB8AC3E}">
        <p14:creationId xmlns:p14="http://schemas.microsoft.com/office/powerpoint/2010/main" val="1339854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5">
            <a:extLst xmlns:a="http://schemas.openxmlformats.org/drawingml/2006/main">
              <a:ext uri="{FF2B5EF4-FFF2-40B4-BE49-F238E27FC236}">
                <a16:creationId xmlns:a16="http://schemas.microsoft.com/office/drawing/2014/main" id="{199BAEE5-3D02-4AF0-AFBD-3D3E7082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REPRESENTATION / BOXPLOT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7375DDBF-2B63-4D06-ADD7-001CCBB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15 / 22</a:t>
            </a:r>
          </a:p>
        </p:txBody>
      </p:sp>
      <p:sp>
        <p:nvSpPr>
          <p:cNvPr id="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B000B633-ED2D-43EA-824A-50F199E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15">
            <a:extLst xmlns:a="http://schemas.openxmlformats.org/drawingml/2006/main">
              <a:ext uri="{FF2B5EF4-FFF2-40B4-BE49-F238E27FC236}">
                <a16:creationId xmlns:a16="http://schemas.microsoft.com/office/drawing/2014/main" id="{B45D58E1-80C9-496C-936C-26D9927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5">
            <a:extLst xmlns:a="http://schemas.openxmlformats.org/drawingml/2006/main">
              <a:ext uri="{FF2B5EF4-FFF2-40B4-BE49-F238E27FC236}">
                <a16:creationId xmlns:a16="http://schemas.microsoft.com/office/drawing/2014/main" id="{C046862C-97C5-4BBA-9800-6528FB98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A boxplot puts the summaries together</a:t>
            </a:r>
          </a:p>
        </p:txBody>
      </p:sp>
      <p:sp>
        <p:nvSpPr>
          <p:cNvPr id="6" name="footer-15">
            <a:extLst xmlns:a="http://schemas.openxmlformats.org/drawingml/2006/main">
              <a:ext uri="{FF2B5EF4-FFF2-40B4-BE49-F238E27FC236}">
                <a16:creationId xmlns:a16="http://schemas.microsoft.com/office/drawing/2014/main" id="{9944105C-3727-4F58-BEAA-6D89257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box-box-label">
            <a:extLst xmlns:a="http://schemas.openxmlformats.org/drawingml/2006/main">
              <a:ext uri="{FF2B5EF4-FFF2-40B4-BE49-F238E27FC236}">
                <a16:creationId xmlns:a16="http://schemas.microsoft.com/office/drawing/2014/main" id="{EE514CF7-34D5-4BEA-8E7A-0AC2CD5D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BOX</a:t>
            </a:r>
          </a:p>
        </p:txBody>
      </p:sp>
      <p:sp>
        <p:nvSpPr>
          <p:cNvPr id="8" name="box-box-text">
            <a:extLst xmlns:a="http://schemas.openxmlformats.org/drawingml/2006/main">
              <a:ext uri="{FF2B5EF4-FFF2-40B4-BE49-F238E27FC236}">
                <a16:creationId xmlns:a16="http://schemas.microsoft.com/office/drawing/2014/main" id="{D0755400-CAAE-40E5-959E-588566BF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Runs from Q₁ to Q₃; the centre line is the median.</a:t>
            </a:r>
          </a:p>
        </p:txBody>
      </p:sp>
      <p:sp>
        <p:nvSpPr>
          <p:cNvPr id="9" name="box-whiskers-label">
            <a:extLst xmlns:a="http://schemas.openxmlformats.org/drawingml/2006/main">
              <a:ext uri="{FF2B5EF4-FFF2-40B4-BE49-F238E27FC236}">
                <a16:creationId xmlns:a16="http://schemas.microsoft.com/office/drawing/2014/main" id="{99DFA4D7-8FD4-4C43-9336-F22C7B7A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WHISKERS</a:t>
            </a:r>
          </a:p>
        </p:txBody>
      </p:sp>
      <p:sp>
        <p:nvSpPr>
          <p:cNvPr id="10" name="box-whiskers-text">
            <a:extLst xmlns:a="http://schemas.openxmlformats.org/drawingml/2006/main">
              <a:ext uri="{FF2B5EF4-FFF2-40B4-BE49-F238E27FC236}">
                <a16:creationId xmlns:a16="http://schemas.microsoft.com/office/drawing/2014/main" id="{35EC5081-D62A-45A7-BC89-71C522B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End at the lowest and highest observed values inside the fences.</a:t>
            </a:r>
          </a:p>
        </p:txBody>
      </p:sp>
      <p:sp>
        <p:nvSpPr>
          <p:cNvPr id="11" name="box-fences-label">
            <a:extLst xmlns:a="http://schemas.openxmlformats.org/drawingml/2006/main">
              <a:ext uri="{FF2B5EF4-FFF2-40B4-BE49-F238E27FC236}">
                <a16:creationId xmlns:a16="http://schemas.microsoft.com/office/drawing/2014/main" id="{7C121A4D-691F-42E7-A1AA-55D6D8F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DOTTED LINES</a:t>
            </a:r>
          </a:p>
        </p:txBody>
      </p:sp>
      <p:sp>
        <p:nvSpPr>
          <p:cNvPr id="12" name="box-fences-text">
            <a:extLst xmlns:a="http://schemas.openxmlformats.org/drawingml/2006/main">
              <a:ext uri="{FF2B5EF4-FFF2-40B4-BE49-F238E27FC236}">
                <a16:creationId xmlns:a16="http://schemas.microsoft.com/office/drawing/2014/main" id="{A856418B-F926-4538-9952-8B965B20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The 1.5×IQR outlier boundaries—not observed minima or maxima.</a:t>
            </a:r>
          </a:p>
        </p:txBody>
      </p:sp>
      <p:sp>
        <p:nvSpPr>
          <p:cNvPr id="13" name="box-points-label">
            <a:extLst xmlns:a="http://schemas.openxmlformats.org/drawingml/2006/main">
              <a:ext uri="{FF2B5EF4-FFF2-40B4-BE49-F238E27FC236}">
                <a16:creationId xmlns:a16="http://schemas.microsoft.com/office/drawing/2014/main" id="{583B8B3C-0202-4BC7-A698-8911EBB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OUTSIDE POINTS</a:t>
            </a:r>
          </a:p>
        </p:txBody>
      </p:sp>
      <p:sp>
        <p:nvSpPr>
          <p:cNvPr id="14" name="box-points-text">
            <a:extLst xmlns:a="http://schemas.openxmlformats.org/drawingml/2006/main">
              <a:ext uri="{FF2B5EF4-FFF2-40B4-BE49-F238E27FC236}">
                <a16:creationId xmlns:a16="http://schemas.microsoft.com/office/drawing/2014/main" id="{E207DED2-2F30-402D-8C8F-BA1E1B58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Potential outliers plotted individually.</a:t>
            </a:r>
          </a:p>
        </p:txBody>
      </p:sp>
      <p:sp>
        <p:nvSpPr>
          <p:cNvPr id="15" name="boxplot-anatomy-surface">
            <a:extLst xmlns:a="http://schemas.openxmlformats.org/drawingml/2006/main">
              <a:ext uri="{FF2B5EF4-FFF2-40B4-BE49-F238E27FC236}">
                <a16:creationId xmlns:a16="http://schemas.microsoft.com/office/drawing/2014/main" id="{95DEF243-AAEE-446B-B5A1-55143CE2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181225" cy="4038600"/>
          </a:xfrm>
          <a:prstGeom xmlns:a="http://schemas.openxmlformats.org/drawingml/2006/main" prst="roundRect">
            <a:avLst>
              <a:gd name="adj" fmla="val 7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b47a7baa74ea9"/>
          <a:stretch xmlns:a="http://schemas.openxmlformats.org/drawingml/2006/main"/>
        </p:blipFill>
        <p:spPr>
          <a:xfrm xmlns:a="http://schemas.openxmlformats.org/drawingml/2006/main">
            <a:off x="4762500" y="1901598"/>
            <a:ext cx="1952625" cy="3626304"/>
          </a:xfrm>
          <a:prstGeom xmlns:a="http://schemas.openxmlformats.org/drawingml/2006/main" prst="rect">
            <a:avLst/>
          </a:prstGeom>
        </p:spPr>
      </p:pic>
      <p:sp>
        <p:nvSpPr>
          <p:cNvPr id="17" name="boxplot-fences-surface">
            <a:extLst xmlns:a="http://schemas.openxmlformats.org/drawingml/2006/main">
              <a:ext uri="{FF2B5EF4-FFF2-40B4-BE49-F238E27FC236}">
                <a16:creationId xmlns:a16="http://schemas.microsoft.com/office/drawing/2014/main" id="{0A456C0E-546D-4D29-8B5F-4F9F4FA4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4514850" cy="2752725"/>
          </a:xfrm>
          <a:prstGeom xmlns:a="http://schemas.openxmlformats.org/drawingml/2006/main" prst="roundRect">
            <a:avLst>
              <a:gd name="adj" fmla="val 62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014ae3fde44f8"/>
          <a:stretch xmlns:a="http://schemas.openxmlformats.org/drawingml/2006/main"/>
        </p:blipFill>
        <p:spPr>
          <a:xfrm xmlns:a="http://schemas.openxmlformats.org/drawingml/2006/main">
            <a:off x="7000875" y="2762250"/>
            <a:ext cx="4286250" cy="1952625"/>
          </a:xfrm>
          <a:prstGeom xmlns:a="http://schemas.openxmlformats.org/drawingml/2006/main" prst="rect">
            <a:avLst/>
          </a:prstGeom>
        </p:spPr>
      </p:pic>
      <p:sp>
        <p:nvSpPr>
          <p:cNvPr id="19" name="boxplot-reading-order">
            <a:extLst xmlns:a="http://schemas.openxmlformats.org/drawingml/2006/main">
              <a:ext uri="{FF2B5EF4-FFF2-40B4-BE49-F238E27FC236}">
                <a16:creationId xmlns:a16="http://schemas.microsoft.com/office/drawing/2014/main" id="{B0D9A47E-C04D-4CC7-BE04-5FE35D34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86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Read from the centre outward: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median → box → whiskers → outside points</a:t>
            </a:r>
          </a:p>
        </p:txBody>
      </p:sp>
    </p:spTree>
    <p:extLst>
      <p:ext uri="{BB962C8B-B14F-4D97-AF65-F5344CB8AC3E}">
        <p14:creationId xmlns:p14="http://schemas.microsoft.com/office/powerpoint/2010/main" val="327143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ivider-index-16">
            <a:extLst xmlns:a="http://schemas.openxmlformats.org/drawingml/2006/main">
              <a:ext uri="{FF2B5EF4-FFF2-40B4-BE49-F238E27FC236}">
                <a16:creationId xmlns:a16="http://schemas.microsoft.com/office/drawing/2014/main" id="{56888624-4E82-4FE3-ADF1-F84CFEC2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SECTION 02</a:t>
            </a:r>
          </a:p>
        </p:txBody>
      </p:sp>
      <p:sp>
        <p:nvSpPr>
          <p:cNvPr id="2" name="divider-number-16">
            <a:extLst xmlns:a="http://schemas.openxmlformats.org/drawingml/2006/main">
              <a:ext uri="{FF2B5EF4-FFF2-40B4-BE49-F238E27FC236}">
                <a16:creationId xmlns:a16="http://schemas.microsoft.com/office/drawing/2014/main" id="{A5191E9F-C219-44E4-94A0-F9B6CD05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5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3" name="divider-line-16">
            <a:extLst xmlns:a="http://schemas.openxmlformats.org/drawingml/2006/main">
              <a:ext uri="{FF2B5EF4-FFF2-40B4-BE49-F238E27FC236}">
                <a16:creationId xmlns:a16="http://schemas.microsoft.com/office/drawing/2014/main" id="{B14513FE-EC2C-4827-9D5B-F808536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144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505E"/>
            </a:solidFill>
            <a:prstDash val="solid"/>
          </a:ln>
        </p:spPr>
      </p:sp>
      <p:sp>
        <p:nvSpPr>
          <p:cNvPr id="4" name="divider-title-16">
            <a:extLst xmlns:a="http://schemas.openxmlformats.org/drawingml/2006/main">
              <a:ext uri="{FF2B5EF4-FFF2-40B4-BE49-F238E27FC236}">
                <a16:creationId xmlns:a16="http://schemas.microsoft.com/office/drawing/2014/main" id="{4BBF6539-C9EE-41B7-B095-EC7533DF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Interpret the pattern</a:t>
            </a:r>
          </a:p>
        </p:txBody>
      </p:sp>
      <p:sp>
        <p:nvSpPr>
          <p:cNvPr id="5" name="divider-subtitle-16">
            <a:extLst xmlns:a="http://schemas.openxmlformats.org/drawingml/2006/main">
              <a:ext uri="{FF2B5EF4-FFF2-40B4-BE49-F238E27FC236}">
                <a16:creationId xmlns:a16="http://schemas.microsoft.com/office/drawing/2014/main" id="{F6CEF257-DFAC-4FCD-BEF2-7B9ECE1B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95625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Shape, groups and production order</a:t>
            </a:r>
          </a:p>
        </p:txBody>
      </p:sp>
      <p:sp>
        <p:nvSpPr>
          <p:cNvPr id="6" name="divider-accent-16">
            <a:extLst xmlns:a="http://schemas.openxmlformats.org/drawingml/2006/main">
              <a:ext uri="{FF2B5EF4-FFF2-40B4-BE49-F238E27FC236}">
                <a16:creationId xmlns:a16="http://schemas.microsoft.com/office/drawing/2014/main" id="{F5D1C2B8-0BE2-411F-9072-2B9215E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910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8A5D"/>
            </a:solidFill>
            <a:prstDash val="solid"/>
          </a:ln>
        </p:spPr>
      </p:sp>
      <p:sp>
        <p:nvSpPr>
          <p:cNvPr id="7" name="divider-footer-16">
            <a:extLst xmlns:a="http://schemas.openxmlformats.org/drawingml/2006/main">
              <a:ext uri="{FF2B5EF4-FFF2-40B4-BE49-F238E27FC236}">
                <a16:creationId xmlns:a16="http://schemas.microsoft.com/office/drawing/2014/main" id="{88B37C83-2F13-4D66-9E26-57994E3B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E919B"/>
                </a:solidFill>
                <a:latin typeface="Aptos"/>
                <a:ea typeface="Aptos"/>
                <a:cs typeface="Aptos"/>
              </a:defRPr>
            </a:pPr>
            <a: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15728721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7">
            <a:extLst xmlns:a="http://schemas.openxmlformats.org/drawingml/2006/main">
              <a:ext uri="{FF2B5EF4-FFF2-40B4-BE49-F238E27FC236}">
                <a16:creationId xmlns:a16="http://schemas.microsoft.com/office/drawing/2014/main" id="{26DF5C78-5040-456A-A907-08EA58A7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INTERPRETATION / SHAPE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F55DCBCE-D940-4E46-86DE-9BF82AE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17 / 22</a:t>
            </a:r>
          </a:p>
        </p:txBody>
      </p:sp>
      <p:sp>
        <p:nvSpPr>
          <p:cNvPr id="3" name="top-rule-17">
            <a:extLst xmlns:a="http://schemas.openxmlformats.org/drawingml/2006/main">
              <a:ext uri="{FF2B5EF4-FFF2-40B4-BE49-F238E27FC236}">
                <a16:creationId xmlns:a16="http://schemas.microsoft.com/office/drawing/2014/main" id="{82B0E568-F989-41A7-9243-FE8A0D7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17">
            <a:extLst xmlns:a="http://schemas.openxmlformats.org/drawingml/2006/main">
              <a:ext uri="{FF2B5EF4-FFF2-40B4-BE49-F238E27FC236}">
                <a16:creationId xmlns:a16="http://schemas.microsoft.com/office/drawing/2014/main" id="{126A22B2-971F-47F4-B898-5CE4AA86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7">
            <a:extLst xmlns:a="http://schemas.openxmlformats.org/drawingml/2006/main">
              <a:ext uri="{FF2B5EF4-FFF2-40B4-BE49-F238E27FC236}">
                <a16:creationId xmlns:a16="http://schemas.microsoft.com/office/drawing/2014/main" id="{4BA83FA5-0718-4649-8452-52676C0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The histogram shows the overall shape</a:t>
            </a:r>
          </a:p>
        </p:txBody>
      </p:sp>
      <p:sp>
        <p:nvSpPr>
          <p:cNvPr id="6" name="footer-17">
            <a:extLst xmlns:a="http://schemas.openxmlformats.org/drawingml/2006/main">
              <a:ext uri="{FF2B5EF4-FFF2-40B4-BE49-F238E27FC236}">
                <a16:creationId xmlns:a16="http://schemas.microsoft.com/office/drawing/2014/main" id="{57337FE9-454C-470F-93A6-96C836F6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hist-look-label">
            <a:extLst xmlns:a="http://schemas.openxmlformats.org/drawingml/2006/main">
              <a:ext uri="{FF2B5EF4-FFF2-40B4-BE49-F238E27FC236}">
                <a16:creationId xmlns:a16="http://schemas.microsoft.com/office/drawing/2014/main" id="{02431675-EFA4-4E46-92A6-C4D64A5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LOOK FOR</a:t>
            </a:r>
          </a:p>
        </p:txBody>
      </p:sp>
      <p:sp>
        <p:nvSpPr>
          <p:cNvPr id="8" name="hist-check-no-0">
            <a:extLst xmlns:a="http://schemas.openxmlformats.org/drawingml/2006/main">
              <a:ext uri="{FF2B5EF4-FFF2-40B4-BE49-F238E27FC236}">
                <a16:creationId xmlns:a16="http://schemas.microsoft.com/office/drawing/2014/main" id="{54B58C6A-7E34-43EA-9FEE-8CC92AFB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9" name="hist-check-0">
            <a:extLst xmlns:a="http://schemas.openxmlformats.org/drawingml/2006/main">
              <a:ext uri="{FF2B5EF4-FFF2-40B4-BE49-F238E27FC236}">
                <a16:creationId xmlns:a16="http://schemas.microsoft.com/office/drawing/2014/main" id="{419CCA95-9C28-4531-BD6C-BFEB1A9C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one or several peaks</a:t>
            </a:r>
          </a:p>
        </p:txBody>
      </p:sp>
      <p:sp>
        <p:nvSpPr>
          <p:cNvPr id="10" name="hist-check-no-1">
            <a:extLst xmlns:a="http://schemas.openxmlformats.org/drawingml/2006/main">
              <a:ext uri="{FF2B5EF4-FFF2-40B4-BE49-F238E27FC236}">
                <a16:creationId xmlns:a16="http://schemas.microsoft.com/office/drawing/2014/main" id="{5B83BF5A-F56D-438C-AB58-D2AA6B98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1" name="hist-check-1">
            <a:extLst xmlns:a="http://schemas.openxmlformats.org/drawingml/2006/main">
              <a:ext uri="{FF2B5EF4-FFF2-40B4-BE49-F238E27FC236}">
                <a16:creationId xmlns:a16="http://schemas.microsoft.com/office/drawing/2014/main" id="{0BB31930-7A06-4B40-A044-C3E88145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symmetry or skewness</a:t>
            </a:r>
          </a:p>
        </p:txBody>
      </p:sp>
      <p:sp>
        <p:nvSpPr>
          <p:cNvPr id="12" name="hist-check-no-2">
            <a:extLst xmlns:a="http://schemas.openxmlformats.org/drawingml/2006/main">
              <a:ext uri="{FF2B5EF4-FFF2-40B4-BE49-F238E27FC236}">
                <a16:creationId xmlns:a16="http://schemas.microsoft.com/office/drawing/2014/main" id="{DDF4E82B-8368-4626-9ABD-DA3B1BB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13" name="hist-check-2">
            <a:extLst xmlns:a="http://schemas.openxmlformats.org/drawingml/2006/main">
              <a:ext uri="{FF2B5EF4-FFF2-40B4-BE49-F238E27FC236}">
                <a16:creationId xmlns:a16="http://schemas.microsoft.com/office/drawing/2014/main" id="{A1251091-4A56-4012-A679-7FE161C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concentration and spread</a:t>
            </a:r>
          </a:p>
        </p:txBody>
      </p:sp>
      <p:sp>
        <p:nvSpPr>
          <p:cNvPr id="14" name="hist-check-no-3">
            <a:extLst xmlns:a="http://schemas.openxmlformats.org/drawingml/2006/main">
              <a:ext uri="{FF2B5EF4-FFF2-40B4-BE49-F238E27FC236}">
                <a16:creationId xmlns:a16="http://schemas.microsoft.com/office/drawing/2014/main" id="{ADD3801E-86BD-4DB1-A5F9-4E5ABF1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04</a:t>
            </a:r>
          </a:p>
        </p:txBody>
      </p:sp>
      <p:sp>
        <p:nvSpPr>
          <p:cNvPr id="15" name="hist-check-3">
            <a:extLst xmlns:a="http://schemas.openxmlformats.org/drawingml/2006/main">
              <a:ext uri="{FF2B5EF4-FFF2-40B4-BE49-F238E27FC236}">
                <a16:creationId xmlns:a16="http://schemas.microsoft.com/office/drawing/2014/main" id="{29FDB5BB-5E7A-42B5-88D7-B09FFF9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t>gaps and extreme values</a:t>
            </a:r>
          </a:p>
        </p:txBody>
      </p:sp>
      <p:sp>
        <p:nvSpPr>
          <p:cNvPr id="16" name="hist-example-caption">
            <a:extLst xmlns:a="http://schemas.openxmlformats.org/drawingml/2006/main">
              <a:ext uri="{FF2B5EF4-FFF2-40B4-BE49-F238E27FC236}">
                <a16:creationId xmlns:a16="http://schemas.microsoft.com/office/drawing/2014/main" id="{324FCAE3-D0FE-434C-91B6-534C7575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WORKED EXAMPLE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180 observed plates; dashed line = 250 µm target</a:t>
            </a:r>
          </a:p>
        </p:txBody>
      </p:sp>
      <p:sp>
        <p:nvSpPr>
          <p:cNvPr id="17" name="observed-histogram-surface">
            <a:extLst xmlns:a="http://schemas.openxmlformats.org/drawingml/2006/main">
              <a:ext uri="{FF2B5EF4-FFF2-40B4-BE49-F238E27FC236}">
                <a16:creationId xmlns:a16="http://schemas.microsoft.com/office/drawing/2014/main" id="{9B8EEF3C-9FF3-4FE1-B097-EF394C3C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6838950" cy="436245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9b84d0ff64cd1"/>
          <a:stretch xmlns:a="http://schemas.openxmlformats.org/drawingml/2006/main"/>
        </p:blipFill>
        <p:spPr>
          <a:xfrm xmlns:a="http://schemas.openxmlformats.org/drawingml/2006/main">
            <a:off x="5291070" y="1809750"/>
            <a:ext cx="5134109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850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18">
            <a:extLst xmlns:a="http://schemas.openxmlformats.org/drawingml/2006/main">
              <a:ext uri="{FF2B5EF4-FFF2-40B4-BE49-F238E27FC236}">
                <a16:creationId xmlns:a16="http://schemas.microsoft.com/office/drawing/2014/main" id="{79D5EA24-6273-4F82-9393-918FB56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INTERPRETATION / SHAPE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AA4F5F05-9A5B-4882-B5D3-5AD06AFE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18 / 22</a:t>
            </a:r>
          </a:p>
        </p:txBody>
      </p:sp>
      <p:sp>
        <p:nvSpPr>
          <p:cNvPr id="3" name="top-rule-18">
            <a:extLst xmlns:a="http://schemas.openxmlformats.org/drawingml/2006/main">
              <a:ext uri="{FF2B5EF4-FFF2-40B4-BE49-F238E27FC236}">
                <a16:creationId xmlns:a16="http://schemas.microsoft.com/office/drawing/2014/main" id="{8C8CEC1B-EFD6-44A6-90A2-3FE281F1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18">
            <a:extLst xmlns:a="http://schemas.openxmlformats.org/drawingml/2006/main">
              <a:ext uri="{FF2B5EF4-FFF2-40B4-BE49-F238E27FC236}">
                <a16:creationId xmlns:a16="http://schemas.microsoft.com/office/drawing/2014/main" id="{F3D04A7E-B9D2-4BF0-B4D4-E293DF46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8">
            <a:extLst xmlns:a="http://schemas.openxmlformats.org/drawingml/2006/main">
              <a:ext uri="{FF2B5EF4-FFF2-40B4-BE49-F238E27FC236}">
                <a16:creationId xmlns:a16="http://schemas.microsoft.com/office/drawing/2014/main" id="{9B4558E4-5D77-4E20-AB0B-A9B7173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Skewness is named by the tail</a:t>
            </a:r>
          </a:p>
        </p:txBody>
      </p:sp>
      <p:sp>
        <p:nvSpPr>
          <p:cNvPr id="6" name="footer-18">
            <a:extLst xmlns:a="http://schemas.openxmlformats.org/drawingml/2006/main">
              <a:ext uri="{FF2B5EF4-FFF2-40B4-BE49-F238E27FC236}">
                <a16:creationId xmlns:a16="http://schemas.microsoft.com/office/drawing/2014/main" id="{29EF0E0E-9CA4-47D4-B972-105C8959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skewness-diagrams-surface">
            <a:extLst xmlns:a="http://schemas.openxmlformats.org/drawingml/2006/main">
              <a:ext uri="{FF2B5EF4-FFF2-40B4-BE49-F238E27FC236}">
                <a16:creationId xmlns:a16="http://schemas.microsoft.com/office/drawing/2014/main" id="{0B5CCFE3-A891-4C78-8424-0BFA06F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10629900" cy="339090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c5764b9e34544"/>
          <a:stretch xmlns:a="http://schemas.openxmlformats.org/drawingml/2006/main"/>
        </p:blipFill>
        <p:spPr>
          <a:xfrm xmlns:a="http://schemas.openxmlformats.org/drawingml/2006/main">
            <a:off x="952500" y="2184288"/>
            <a:ext cx="10287000" cy="2679924"/>
          </a:xfrm>
          <a:prstGeom xmlns:a="http://schemas.openxmlformats.org/drawingml/2006/main" prst="rect">
            <a:avLst/>
          </a:prstGeom>
        </p:spPr>
      </p:pic>
      <p:sp>
        <p:nvSpPr>
          <p:cNvPr id="9" name="skew-right">
            <a:extLst xmlns:a="http://schemas.openxmlformats.org/drawingml/2006/main">
              <a:ext uri="{FF2B5EF4-FFF2-40B4-BE49-F238E27FC236}">
                <a16:creationId xmlns:a16="http://schemas.microsoft.com/office/drawing/2014/main" id="{C0C3ED32-EE84-448C-9452-CC51F27B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RIGHT SKEW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long tail toward higher values</a:t>
            </a:r>
          </a:p>
        </p:txBody>
      </p:sp>
      <p:sp>
        <p:nvSpPr>
          <p:cNvPr id="10" name="skew-symmetric">
            <a:extLst xmlns:a="http://schemas.openxmlformats.org/drawingml/2006/main">
              <a:ext uri="{FF2B5EF4-FFF2-40B4-BE49-F238E27FC236}">
                <a16:creationId xmlns:a16="http://schemas.microsoft.com/office/drawing/2014/main" id="{2EC5411F-47E5-4656-A7FB-862D840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29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SYMMETRIC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comparable tails</a:t>
            </a:r>
          </a:p>
        </p:txBody>
      </p:sp>
      <p:sp>
        <p:nvSpPr>
          <p:cNvPr id="11" name="skew-left">
            <a:extLst xmlns:a="http://schemas.openxmlformats.org/drawingml/2006/main">
              <a:ext uri="{FF2B5EF4-FFF2-40B4-BE49-F238E27FC236}">
                <a16:creationId xmlns:a16="http://schemas.microsoft.com/office/drawing/2014/main" id="{651AFB2A-0F13-4904-BD58-AD1DEAB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29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LEFT SKEW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long tail toward lower values</a:t>
            </a:r>
          </a:p>
        </p:txBody>
      </p:sp>
    </p:spTree>
    <p:extLst>
      <p:ext uri="{BB962C8B-B14F-4D97-AF65-F5344CB8AC3E}">
        <p14:creationId xmlns:p14="http://schemas.microsoft.com/office/powerpoint/2010/main" val="2463356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19">
            <a:extLst xmlns:a="http://schemas.openxmlformats.org/drawingml/2006/main">
              <a:ext uri="{FF2B5EF4-FFF2-40B4-BE49-F238E27FC236}">
                <a16:creationId xmlns:a16="http://schemas.microsoft.com/office/drawing/2014/main" id="{33A47355-462E-4016-98CA-A9A6EB17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INTERPRETATION / GROUPS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8F9634BB-D495-484F-8CC0-BD726F4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19 / 22</a:t>
            </a:r>
          </a:p>
        </p:txBody>
      </p:sp>
      <p:sp>
        <p:nvSpPr>
          <p:cNvPr id="3" name="top-rule-19">
            <a:extLst xmlns:a="http://schemas.openxmlformats.org/drawingml/2006/main">
              <a:ext uri="{FF2B5EF4-FFF2-40B4-BE49-F238E27FC236}">
                <a16:creationId xmlns:a16="http://schemas.microsoft.com/office/drawing/2014/main" id="{EB9D008E-CCEC-4351-97C0-368C7216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19">
            <a:extLst xmlns:a="http://schemas.openxmlformats.org/drawingml/2006/main">
              <a:ext uri="{FF2B5EF4-FFF2-40B4-BE49-F238E27FC236}">
                <a16:creationId xmlns:a16="http://schemas.microsoft.com/office/drawing/2014/main" id="{75FCAC97-D0F9-43C6-9320-372C7EB6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19">
            <a:extLst xmlns:a="http://schemas.openxmlformats.org/drawingml/2006/main">
              <a:ext uri="{FF2B5EF4-FFF2-40B4-BE49-F238E27FC236}">
                <a16:creationId xmlns:a16="http://schemas.microsoft.com/office/drawing/2014/main" id="{277C0012-9A8B-44AE-A0ED-FEBB6FE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Compare groups with side-by-side boxplots</a:t>
            </a:r>
          </a:p>
        </p:txBody>
      </p:sp>
      <p:sp>
        <p:nvSpPr>
          <p:cNvPr id="6" name="footer-19">
            <a:extLst xmlns:a="http://schemas.openxmlformats.org/drawingml/2006/main">
              <a:ext uri="{FF2B5EF4-FFF2-40B4-BE49-F238E27FC236}">
                <a16:creationId xmlns:a16="http://schemas.microsoft.com/office/drawing/2014/main" id="{B9B6679A-E4AA-405A-9536-CED14B0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line-a">
            <a:extLst xmlns:a="http://schemas.openxmlformats.org/drawingml/2006/main">
              <a:ext uri="{FF2B5EF4-FFF2-40B4-BE49-F238E27FC236}">
                <a16:creationId xmlns:a16="http://schemas.microsoft.com/office/drawing/2014/main" id="{92CF3DF0-E50D-4DF9-9059-E222B43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9DA4"/>
                </a:solidFill>
                <a:latin typeface="Aptos"/>
                <a:ea typeface="Aptos"/>
                <a:cs typeface="Aptos"/>
              </a:rPr>
              <a:t>LINE A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4252F"/>
                </a:solidFill>
                <a:latin typeface="Aptos"/>
                <a:ea typeface="Aptos"/>
                <a:cs typeface="Aptos"/>
              </a:rPr>
              <a:t>n = 90
median = 249.69 µm
s = 4.16 µm</a:t>
            </a:r>
          </a:p>
        </p:txBody>
      </p:sp>
      <p:sp>
        <p:nvSpPr>
          <p:cNvPr id="8" name="line-b">
            <a:extLst xmlns:a="http://schemas.openxmlformats.org/drawingml/2006/main">
              <a:ext uri="{FF2B5EF4-FFF2-40B4-BE49-F238E27FC236}">
                <a16:creationId xmlns:a16="http://schemas.microsoft.com/office/drawing/2014/main" id="{CE8D098C-722A-4F40-B487-9FBA697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08A5D"/>
                </a:solidFill>
                <a:latin typeface="Aptos"/>
                <a:ea typeface="Aptos"/>
                <a:cs typeface="Aptos"/>
              </a:rPr>
              <a:t>LINE B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4252F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4252F"/>
                </a:solidFill>
                <a:latin typeface="Aptos"/>
                <a:ea typeface="Aptos"/>
                <a:cs typeface="Aptos"/>
              </a:rPr>
              <a:t>n = 90
median = 250.86 µm
s = 5.37 µm</a:t>
            </a:r>
          </a:p>
        </p:txBody>
      </p:sp>
      <p:sp>
        <p:nvSpPr>
          <p:cNvPr id="9" name="group-conclusion">
            <a:extLst xmlns:a="http://schemas.openxmlformats.org/drawingml/2006/main">
              <a:ext uri="{FF2B5EF4-FFF2-40B4-BE49-F238E27FC236}">
                <a16:creationId xmlns:a16="http://schemas.microsoft.com/office/drawing/2014/main" id="{0114CB45-CFDF-4496-8C76-AAE32BED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In this observed sample, line B has the larger standard deviation.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That is not yet a population claim.</a:t>
            </a:r>
          </a:p>
        </p:txBody>
      </p:sp>
      <p:sp>
        <p:nvSpPr>
          <p:cNvPr id="10" name="group-boxplot-surface">
            <a:extLst xmlns:a="http://schemas.openxmlformats.org/drawingml/2006/main">
              <a:ext uri="{FF2B5EF4-FFF2-40B4-BE49-F238E27FC236}">
                <a16:creationId xmlns:a16="http://schemas.microsoft.com/office/drawing/2014/main" id="{A47BD5F9-4B1D-45F5-BE80-9754F4B7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676400"/>
            <a:ext cx="7124700" cy="4457700"/>
          </a:xfrm>
          <a:prstGeom xmlns:a="http://schemas.openxmlformats.org/drawingml/2006/main" prst="roundRect">
            <a:avLst>
              <a:gd name="adj" fmla="val 42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ecd3d21c74ae1"/>
          <a:stretch xmlns:a="http://schemas.openxmlformats.org/drawingml/2006/main"/>
        </p:blipFill>
        <p:spPr>
          <a:xfrm xmlns:a="http://schemas.openxmlformats.org/drawingml/2006/main">
            <a:off x="5136121" y="1809750"/>
            <a:ext cx="5253507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486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0">
            <a:extLst xmlns:a="http://schemas.openxmlformats.org/drawingml/2006/main">
              <a:ext uri="{FF2B5EF4-FFF2-40B4-BE49-F238E27FC236}">
                <a16:creationId xmlns:a16="http://schemas.microsoft.com/office/drawing/2014/main" id="{DF4C8C6E-B909-418A-B732-D86E83C9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INTERPRETATION / ORDER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9A8C5840-B8F2-4E00-828A-C103806F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20 / 22</a:t>
            </a:r>
          </a:p>
        </p:txBody>
      </p:sp>
      <p:sp>
        <p:nvSpPr>
          <p:cNvPr id="3" name="top-rule-20">
            <a:extLst xmlns:a="http://schemas.openxmlformats.org/drawingml/2006/main">
              <a:ext uri="{FF2B5EF4-FFF2-40B4-BE49-F238E27FC236}">
                <a16:creationId xmlns:a16="http://schemas.microsoft.com/office/drawing/2014/main" id="{B423B872-A6A0-4B80-914A-D08A3C8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505E"/>
            </a:solidFill>
            <a:prstDash val="solid"/>
          </a:ln>
        </p:spPr>
      </p:sp>
      <p:sp>
        <p:nvSpPr>
          <p:cNvPr id="4" name="top-accent-20">
            <a:extLst xmlns:a="http://schemas.openxmlformats.org/drawingml/2006/main">
              <a:ext uri="{FF2B5EF4-FFF2-40B4-BE49-F238E27FC236}">
                <a16:creationId xmlns:a16="http://schemas.microsoft.com/office/drawing/2014/main" id="{AA5B8E0B-BFFC-4B52-BF9E-4B2521D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20">
            <a:extLst xmlns:a="http://schemas.openxmlformats.org/drawingml/2006/main">
              <a:ext uri="{FF2B5EF4-FFF2-40B4-BE49-F238E27FC236}">
                <a16:creationId xmlns:a16="http://schemas.microsoft.com/office/drawing/2014/main" id="{E56C854B-CE3F-4131-801D-1EB993F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Production order can reveal drift</a:t>
            </a:r>
          </a:p>
        </p:txBody>
      </p:sp>
      <p:sp>
        <p:nvSpPr>
          <p:cNvPr id="6" name="footer-20">
            <a:extLst xmlns:a="http://schemas.openxmlformats.org/drawingml/2006/main">
              <a:ext uri="{FF2B5EF4-FFF2-40B4-BE49-F238E27FC236}">
                <a16:creationId xmlns:a16="http://schemas.microsoft.com/office/drawing/2014/main" id="{1664F59C-FA92-4C9D-AE58-E0AC5B5A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runplot-intro">
            <a:extLst xmlns:a="http://schemas.openxmlformats.org/drawingml/2006/main">
              <a:ext uri="{FF2B5EF4-FFF2-40B4-BE49-F238E27FC236}">
                <a16:creationId xmlns:a16="http://schemas.microsoft.com/office/drawing/2014/main" id="{359A0697-5F0B-4849-AAAC-BCA57C2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A histogram discards order.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A run plot preserves it.</a:t>
            </a:r>
          </a:p>
        </p:txBody>
      </p:sp>
      <p:sp>
        <p:nvSpPr>
          <p:cNvPr id="8" name="run-look-label">
            <a:extLst xmlns:a="http://schemas.openxmlformats.org/drawingml/2006/main">
              <a:ext uri="{FF2B5EF4-FFF2-40B4-BE49-F238E27FC236}">
                <a16:creationId xmlns:a16="http://schemas.microsoft.com/office/drawing/2014/main" id="{4D87A05D-0C29-4502-93E6-426F13C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LOOK FOR</a:t>
            </a:r>
          </a:p>
        </p:txBody>
      </p:sp>
      <p:sp>
        <p:nvSpPr>
          <p:cNvPr id="9" name="run-look-text">
            <a:extLst xmlns:a="http://schemas.openxmlformats.org/drawingml/2006/main">
              <a:ext uri="{FF2B5EF4-FFF2-40B4-BE49-F238E27FC236}">
                <a16:creationId xmlns:a16="http://schemas.microsoft.com/office/drawing/2014/main" id="{AA545377-2539-43F3-9B9B-24CE7E6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a systematic rise, fall, shift or cycle</a:t>
            </a:r>
          </a:p>
        </p:txBody>
      </p:sp>
      <p:sp>
        <p:nvSpPr>
          <p:cNvPr id="10" name="run-caution-label">
            <a:extLst xmlns:a="http://schemas.openxmlformats.org/drawingml/2006/main">
              <a:ext uri="{FF2B5EF4-FFF2-40B4-BE49-F238E27FC236}">
                <a16:creationId xmlns:a16="http://schemas.microsoft.com/office/drawing/2014/main" id="{B4B16605-C47B-48B3-805F-14761EFA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CAUTION</a:t>
            </a:r>
          </a:p>
        </p:txBody>
      </p:sp>
      <p:sp>
        <p:nvSpPr>
          <p:cNvPr id="11" name="run-caution-text">
            <a:extLst xmlns:a="http://schemas.openxmlformats.org/drawingml/2006/main">
              <a:ext uri="{FF2B5EF4-FFF2-40B4-BE49-F238E27FC236}">
                <a16:creationId xmlns:a16="http://schemas.microsoft.com/office/drawing/2014/main" id="{BB9C91E4-4670-4258-99A4-0DAAC408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no obvious pattern is not proof of stability</a:t>
            </a:r>
          </a:p>
        </p:txBody>
      </p:sp>
      <p:sp>
        <p:nvSpPr>
          <p:cNvPr id="12" name="run-plot-surface">
            <a:extLst xmlns:a="http://schemas.openxmlformats.org/drawingml/2006/main">
              <a:ext uri="{FF2B5EF4-FFF2-40B4-BE49-F238E27FC236}">
                <a16:creationId xmlns:a16="http://schemas.microsoft.com/office/drawing/2014/main" id="{89438052-B6C9-4220-A62C-97B4F696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24025"/>
            <a:ext cx="7219950" cy="4124325"/>
          </a:xfrm>
          <a:prstGeom xmlns:a="http://schemas.openxmlformats.org/drawingml/2006/main" prst="roundRect">
            <a:avLst>
              <a:gd name="adj" fmla="val 4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76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55d86f9a347c8"/>
          <a:stretch xmlns:a="http://schemas.openxmlformats.org/drawingml/2006/main"/>
        </p:blipFill>
        <p:spPr>
          <a:xfrm xmlns:a="http://schemas.openxmlformats.org/drawingml/2006/main">
            <a:off x="4238625" y="2340849"/>
            <a:ext cx="6953250" cy="28906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385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1">
            <a:extLst xmlns:a="http://schemas.openxmlformats.org/drawingml/2006/main">
              <a:ext uri="{FF2B5EF4-FFF2-40B4-BE49-F238E27FC236}">
                <a16:creationId xmlns:a16="http://schemas.microsoft.com/office/drawing/2014/main" id="{28DF7DC7-A8B3-4536-93D8-59DAF2C9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INTERPRETATION / PLOT CHOICE</a:t>
            </a:r>
          </a:p>
        </p:txBody>
      </p:sp>
      <p:sp>
        <p:nvSpPr>
          <p:cNvPr id="2" name="number-21">
            <a:extLst xmlns:a="http://schemas.openxmlformats.org/drawingml/2006/main">
              <a:ext uri="{FF2B5EF4-FFF2-40B4-BE49-F238E27FC236}">
                <a16:creationId xmlns:a16="http://schemas.microsoft.com/office/drawing/2014/main" id="{17561B06-FF9C-4DD5-BBB3-EBA95342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21 / 22</a:t>
            </a:r>
          </a:p>
        </p:txBody>
      </p:sp>
      <p:sp>
        <p:nvSpPr>
          <p:cNvPr id="3" name="top-rule-21">
            <a:extLst xmlns:a="http://schemas.openxmlformats.org/drawingml/2006/main">
              <a:ext uri="{FF2B5EF4-FFF2-40B4-BE49-F238E27FC236}">
                <a16:creationId xmlns:a16="http://schemas.microsoft.com/office/drawing/2014/main" id="{8FB587D1-52BB-49CC-91C5-470D6BC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4" name="top-accent-21">
            <a:extLst xmlns:a="http://schemas.openxmlformats.org/drawingml/2006/main">
              <a:ext uri="{FF2B5EF4-FFF2-40B4-BE49-F238E27FC236}">
                <a16:creationId xmlns:a16="http://schemas.microsoft.com/office/drawing/2014/main" id="{252EBC5E-C584-4477-9DEC-F6B169D1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D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21">
            <a:extLst xmlns:a="http://schemas.openxmlformats.org/drawingml/2006/main">
              <a:ext uri="{FF2B5EF4-FFF2-40B4-BE49-F238E27FC236}">
                <a16:creationId xmlns:a16="http://schemas.microsoft.com/office/drawing/2014/main" id="{FED6E47E-8191-4AB6-B11E-E47FE0E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Choose the plot that answers the question</a:t>
            </a:r>
          </a:p>
        </p:txBody>
      </p:sp>
      <p:sp>
        <p:nvSpPr>
          <p:cNvPr id="6" name="footer-21">
            <a:extLst xmlns:a="http://schemas.openxmlformats.org/drawingml/2006/main">
              <a:ext uri="{FF2B5EF4-FFF2-40B4-BE49-F238E27FC236}">
                <a16:creationId xmlns:a16="http://schemas.microsoft.com/office/drawing/2014/main" id="{9FCD40BE-7312-461F-8EDF-6DA7E89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choice-no-0">
            <a:extLst xmlns:a="http://schemas.openxmlformats.org/drawingml/2006/main">
              <a:ext uri="{FF2B5EF4-FFF2-40B4-BE49-F238E27FC236}">
                <a16:creationId xmlns:a16="http://schemas.microsoft.com/office/drawing/2014/main" id="{982BD8C8-974B-4A51-A8DC-E00C98CB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8" name="choice-title-0">
            <a:extLst xmlns:a="http://schemas.openxmlformats.org/drawingml/2006/main">
              <a:ext uri="{FF2B5EF4-FFF2-40B4-BE49-F238E27FC236}">
                <a16:creationId xmlns:a16="http://schemas.microsoft.com/office/drawing/2014/main" id="{CF1D4D80-B23B-4975-87AA-1405A40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9DA4"/>
                </a:solidFill>
                <a:latin typeface="Aptos"/>
                <a:ea typeface="Aptos"/>
                <a:cs typeface="Aptos"/>
              </a:defRPr>
            </a:pPr>
            <a:r>
              <a:t>HISTOGRAM</a:t>
            </a:r>
          </a:p>
        </p:txBody>
      </p:sp>
      <p:sp>
        <p:nvSpPr>
          <p:cNvPr id="9" name="choice-question-0">
            <a:extLst xmlns:a="http://schemas.openxmlformats.org/drawingml/2006/main">
              <a:ext uri="{FF2B5EF4-FFF2-40B4-BE49-F238E27FC236}">
                <a16:creationId xmlns:a16="http://schemas.microsoft.com/office/drawing/2014/main" id="{74C9EEFF-E59A-42B4-B58E-02EF647E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623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What is the overall shape?</a:t>
            </a:r>
          </a:p>
        </p:txBody>
      </p:sp>
      <p:sp>
        <p:nvSpPr>
          <p:cNvPr id="10" name="choice-use-0">
            <a:extLst xmlns:a="http://schemas.openxmlformats.org/drawingml/2006/main">
              <a:ext uri="{FF2B5EF4-FFF2-40B4-BE49-F238E27FC236}">
                <a16:creationId xmlns:a16="http://schemas.microsoft.com/office/drawing/2014/main" id="{FF079EA9-EC92-4FA7-B94D-2F278284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101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one quantitative variable</a:t>
            </a:r>
          </a:p>
        </p:txBody>
      </p:sp>
      <p:sp>
        <p:nvSpPr>
          <p:cNvPr id="11" name="choice-divider-1">
            <a:extLst xmlns:a="http://schemas.openxmlformats.org/drawingml/2006/main">
              <a:ext uri="{FF2B5EF4-FFF2-40B4-BE49-F238E27FC236}">
                <a16:creationId xmlns:a16="http://schemas.microsoft.com/office/drawing/2014/main" id="{4AB39EF6-6676-4FB7-81F9-419BA5A3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12" name="choice-no-1">
            <a:extLst xmlns:a="http://schemas.openxmlformats.org/drawingml/2006/main">
              <a:ext uri="{FF2B5EF4-FFF2-40B4-BE49-F238E27FC236}">
                <a16:creationId xmlns:a16="http://schemas.microsoft.com/office/drawing/2014/main" id="{AC7155EF-4304-4D21-934D-22A20498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3" name="choice-title-1">
            <a:extLst xmlns:a="http://schemas.openxmlformats.org/drawingml/2006/main">
              <a:ext uri="{FF2B5EF4-FFF2-40B4-BE49-F238E27FC236}">
                <a16:creationId xmlns:a16="http://schemas.microsoft.com/office/drawing/2014/main" id="{759DF8A0-1001-46CE-9245-C024A88D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95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BOXPLOT</a:t>
            </a:r>
          </a:p>
        </p:txBody>
      </p:sp>
      <p:sp>
        <p:nvSpPr>
          <p:cNvPr id="14" name="choice-question-1">
            <a:extLst xmlns:a="http://schemas.openxmlformats.org/drawingml/2006/main">
              <a:ext uri="{FF2B5EF4-FFF2-40B4-BE49-F238E27FC236}">
                <a16:creationId xmlns:a16="http://schemas.microsoft.com/office/drawing/2014/main" id="{1FA3CEC1-BC08-427E-983E-6A8ABC8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How do groups compare?</a:t>
            </a:r>
          </a:p>
        </p:txBody>
      </p:sp>
      <p:sp>
        <p:nvSpPr>
          <p:cNvPr id="15" name="choice-use-1">
            <a:extLst xmlns:a="http://schemas.openxmlformats.org/drawingml/2006/main">
              <a:ext uri="{FF2B5EF4-FFF2-40B4-BE49-F238E27FC236}">
                <a16:creationId xmlns:a16="http://schemas.microsoft.com/office/drawing/2014/main" id="{F7DF6A4F-28A7-4E78-A713-694196D3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centre, spread and potential outliers</a:t>
            </a:r>
          </a:p>
        </p:txBody>
      </p:sp>
      <p:sp>
        <p:nvSpPr>
          <p:cNvPr id="16" name="choice-divider-2">
            <a:extLst xmlns:a="http://schemas.openxmlformats.org/drawingml/2006/main">
              <a:ext uri="{FF2B5EF4-FFF2-40B4-BE49-F238E27FC236}">
                <a16:creationId xmlns:a16="http://schemas.microsoft.com/office/drawing/2014/main" id="{3F9045CD-E66C-4112-AC48-EF68C474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3D6"/>
            </a:solidFill>
            <a:prstDash val="solid"/>
          </a:ln>
        </p:spPr>
      </p:sp>
      <p:sp>
        <p:nvSpPr>
          <p:cNvPr id="17" name="choice-no-2">
            <a:extLst xmlns:a="http://schemas.openxmlformats.org/drawingml/2006/main">
              <a:ext uri="{FF2B5EF4-FFF2-40B4-BE49-F238E27FC236}">
                <a16:creationId xmlns:a16="http://schemas.microsoft.com/office/drawing/2014/main" id="{E134F53D-7C8A-4464-BE63-40CCB3D7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64727B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18" name="choice-title-2">
            <a:extLst xmlns:a="http://schemas.openxmlformats.org/drawingml/2006/main">
              <a:ext uri="{FF2B5EF4-FFF2-40B4-BE49-F238E27FC236}">
                <a16:creationId xmlns:a16="http://schemas.microsoft.com/office/drawing/2014/main" id="{068008EC-A726-457A-A4F7-182375C5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RUN / SCATTER</a:t>
            </a:r>
          </a:p>
        </p:txBody>
      </p:sp>
      <p:sp>
        <p:nvSpPr>
          <p:cNvPr id="19" name="choice-question-2">
            <a:extLst xmlns:a="http://schemas.openxmlformats.org/drawingml/2006/main">
              <a:ext uri="{FF2B5EF4-FFF2-40B4-BE49-F238E27FC236}">
                <a16:creationId xmlns:a16="http://schemas.microsoft.com/office/drawing/2014/main" id="{EA21E66C-D52B-448A-8BE7-B1B97924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623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Does order or a relationship matter?</a:t>
            </a:r>
          </a:p>
        </p:txBody>
      </p:sp>
      <p:sp>
        <p:nvSpPr>
          <p:cNvPr id="20" name="choice-use-2">
            <a:extLst xmlns:a="http://schemas.openxmlformats.org/drawingml/2006/main">
              <a:ext uri="{FF2B5EF4-FFF2-40B4-BE49-F238E27FC236}">
                <a16:creationId xmlns:a16="http://schemas.microsoft.com/office/drawing/2014/main" id="{738D3F82-C1C0-4824-A71C-879FEA2F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8101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sequence or paired variables</a:t>
            </a:r>
          </a:p>
        </p:txBody>
      </p:sp>
      <p:sp>
        <p:nvSpPr>
          <p:cNvPr id="21" name="choice-conclusion">
            <a:extLst xmlns:a="http://schemas.openxmlformats.org/drawingml/2006/main">
              <a:ext uri="{FF2B5EF4-FFF2-40B4-BE49-F238E27FC236}">
                <a16:creationId xmlns:a16="http://schemas.microsoft.com/office/drawing/2014/main" id="{A8810816-E826-4604-8E97-5E98E26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857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52F"/>
                </a:solidFill>
                <a:latin typeface="Aptos Display"/>
                <a:ea typeface="Aptos Display"/>
                <a:cs typeface="Aptos Display"/>
              </a:defRPr>
            </a:pPr>
            <a:r>
              <a:t>The question and variable roles determine the plot—not habit.</a:t>
            </a:r>
          </a:p>
        </p:txBody>
      </p:sp>
    </p:spTree>
    <p:extLst>
      <p:ext uri="{BB962C8B-B14F-4D97-AF65-F5344CB8AC3E}">
        <p14:creationId xmlns:p14="http://schemas.microsoft.com/office/powerpoint/2010/main" val="17341341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2">
            <a:extLst xmlns:a="http://schemas.openxmlformats.org/drawingml/2006/main">
              <a:ext uri="{FF2B5EF4-FFF2-40B4-BE49-F238E27FC236}">
                <a16:creationId xmlns:a16="http://schemas.microsoft.com/office/drawing/2014/main" id="{418C8DD4-94CD-4F9D-A9F4-3A857DD1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8A5D"/>
                </a:solidFill>
                <a:latin typeface="Aptos"/>
                <a:ea typeface="Aptos"/>
                <a:cs typeface="Aptos"/>
              </a:defRPr>
            </a:pPr>
            <a:r>
              <a:t>CONCLUSION / RESPONSIBLE DESCRIPTION</a:t>
            </a:r>
          </a:p>
        </p:txBody>
      </p:sp>
      <p:sp>
        <p:nvSpPr>
          <p:cNvPr id="2" name="number-22">
            <a:extLst xmlns:a="http://schemas.openxmlformats.org/drawingml/2006/main">
              <a:ext uri="{FF2B5EF4-FFF2-40B4-BE49-F238E27FC236}">
                <a16:creationId xmlns:a16="http://schemas.microsoft.com/office/drawing/2014/main" id="{C27C8969-58CA-4323-81E6-94196D3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22 / 22</a:t>
            </a:r>
          </a:p>
        </p:txBody>
      </p:sp>
      <p:sp>
        <p:nvSpPr>
          <p:cNvPr id="3" name="top-rule-22">
            <a:extLst xmlns:a="http://schemas.openxmlformats.org/drawingml/2006/main">
              <a:ext uri="{FF2B5EF4-FFF2-40B4-BE49-F238E27FC236}">
                <a16:creationId xmlns:a16="http://schemas.microsoft.com/office/drawing/2014/main" id="{CFDE4A9A-4DA0-4A59-B2C1-89D3DFF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9505E"/>
            </a:solidFill>
            <a:prstDash val="solid"/>
          </a:ln>
        </p:spPr>
      </p:sp>
      <p:sp>
        <p:nvSpPr>
          <p:cNvPr id="4" name="top-accent-22">
            <a:extLst xmlns:a="http://schemas.openxmlformats.org/drawingml/2006/main">
              <a:ext uri="{FF2B5EF4-FFF2-40B4-BE49-F238E27FC236}">
                <a16:creationId xmlns:a16="http://schemas.microsoft.com/office/drawing/2014/main" id="{2A57EBEA-31BD-46CF-8665-DD2BFC4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22">
            <a:extLst xmlns:a="http://schemas.openxmlformats.org/drawingml/2006/main">
              <a:ext uri="{FF2B5EF4-FFF2-40B4-BE49-F238E27FC236}">
                <a16:creationId xmlns:a16="http://schemas.microsoft.com/office/drawing/2014/main" id="{1AAF9EA1-EABB-480E-AA01-A9AF527C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Describe the sample—then stop</a:t>
            </a:r>
          </a:p>
        </p:txBody>
      </p:sp>
      <p:sp>
        <p:nvSpPr>
          <p:cNvPr id="6" name="footer-22">
            <a:extLst xmlns:a="http://schemas.openxmlformats.org/drawingml/2006/main">
              <a:ext uri="{FF2B5EF4-FFF2-40B4-BE49-F238E27FC236}">
                <a16:creationId xmlns:a16="http://schemas.microsoft.com/office/drawing/2014/main" id="{0411DB35-BD1E-4414-93A0-F0EA3CD9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BAC2"/>
                </a:solidFill>
                <a:latin typeface="Aptos"/>
                <a:ea typeface="Aptos"/>
                <a:cs typeface="Aptos"/>
              </a:defRPr>
            </a:pPr>
            <a:r>
              <a:t>STA1 • DATA AND DESCRIPTIVE STATISTICS</a:t>
            </a:r>
          </a:p>
        </p:txBody>
      </p:sp>
      <p:sp>
        <p:nvSpPr>
          <p:cNvPr id="7" name="closing-no-0">
            <a:extLst xmlns:a="http://schemas.openxmlformats.org/drawingml/2006/main">
              <a:ext uri="{FF2B5EF4-FFF2-40B4-BE49-F238E27FC236}">
                <a16:creationId xmlns:a16="http://schemas.microsoft.com/office/drawing/2014/main" id="{BA3DACC8-67DF-4F90-BF8C-9A43045D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8" name="closing-label-0">
            <a:extLst xmlns:a="http://schemas.openxmlformats.org/drawingml/2006/main">
              <a:ext uri="{FF2B5EF4-FFF2-40B4-BE49-F238E27FC236}">
                <a16:creationId xmlns:a16="http://schemas.microsoft.com/office/drawing/2014/main" id="{B2828354-028D-4C1A-B32B-02D1B407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52625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STATE THE SCOPE</a:t>
            </a:r>
          </a:p>
        </p:txBody>
      </p:sp>
      <p:sp>
        <p:nvSpPr>
          <p:cNvPr id="9" name="closing-text-0">
            <a:extLst xmlns:a="http://schemas.openxmlformats.org/drawingml/2006/main">
              <a:ext uri="{FF2B5EF4-FFF2-40B4-BE49-F238E27FC236}">
                <a16:creationId xmlns:a16="http://schemas.microsoft.com/office/drawing/2014/main" id="{1CA27297-B5E4-49BA-A5C4-7CE67A8F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what was measured, how many observations and which groups</a:t>
            </a:r>
          </a:p>
        </p:txBody>
      </p:sp>
      <p:sp>
        <p:nvSpPr>
          <p:cNvPr id="10" name="closing-rule-0">
            <a:extLst xmlns:a="http://schemas.openxmlformats.org/drawingml/2006/main">
              <a:ext uri="{FF2B5EF4-FFF2-40B4-BE49-F238E27FC236}">
                <a16:creationId xmlns:a16="http://schemas.microsoft.com/office/drawing/2014/main" id="{47602778-1FD3-49FD-891C-02A60416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B57"/>
            </a:solidFill>
            <a:prstDash val="solid"/>
          </a:ln>
        </p:spPr>
      </p:sp>
      <p:sp>
        <p:nvSpPr>
          <p:cNvPr id="11" name="closing-no-1">
            <a:extLst xmlns:a="http://schemas.openxmlformats.org/drawingml/2006/main">
              <a:ext uri="{FF2B5EF4-FFF2-40B4-BE49-F238E27FC236}">
                <a16:creationId xmlns:a16="http://schemas.microsoft.com/office/drawing/2014/main" id="{FF5BC27A-DAA0-45B7-992A-CDA6658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2" name="closing-label-1">
            <a:extLst xmlns:a="http://schemas.openxmlformats.org/drawingml/2006/main">
              <a:ext uri="{FF2B5EF4-FFF2-40B4-BE49-F238E27FC236}">
                <a16:creationId xmlns:a16="http://schemas.microsoft.com/office/drawing/2014/main" id="{9892A590-3E71-432F-B9B8-D0916949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REPORT CENTRE AND SPREAD</a:t>
            </a:r>
          </a:p>
        </p:txBody>
      </p:sp>
      <p:sp>
        <p:nvSpPr>
          <p:cNvPr id="13" name="closing-text-1">
            <a:extLst xmlns:a="http://schemas.openxmlformats.org/drawingml/2006/main">
              <a:ext uri="{FF2B5EF4-FFF2-40B4-BE49-F238E27FC236}">
                <a16:creationId xmlns:a16="http://schemas.microsoft.com/office/drawing/2014/main" id="{C86D6F11-37F7-430B-861A-CE91FF5D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use measures that suit the observed distribution</a:t>
            </a:r>
          </a:p>
        </p:txBody>
      </p:sp>
      <p:sp>
        <p:nvSpPr>
          <p:cNvPr id="14" name="closing-rule-1">
            <a:extLst xmlns:a="http://schemas.openxmlformats.org/drawingml/2006/main">
              <a:ext uri="{FF2B5EF4-FFF2-40B4-BE49-F238E27FC236}">
                <a16:creationId xmlns:a16="http://schemas.microsoft.com/office/drawing/2014/main" id="{BC079332-11B8-4210-8EA2-9234157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B57"/>
            </a:solidFill>
            <a:prstDash val="solid"/>
          </a:ln>
        </p:spPr>
      </p:sp>
      <p:sp>
        <p:nvSpPr>
          <p:cNvPr id="15" name="closing-no-2">
            <a:extLst xmlns:a="http://schemas.openxmlformats.org/drawingml/2006/main">
              <a:ext uri="{FF2B5EF4-FFF2-40B4-BE49-F238E27FC236}">
                <a16:creationId xmlns:a16="http://schemas.microsoft.com/office/drawing/2014/main" id="{60666048-3A8E-4757-A251-C77AB67F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9DA4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16" name="closing-label-2">
            <a:extLst xmlns:a="http://schemas.openxmlformats.org/drawingml/2006/main">
              <a:ext uri="{FF2B5EF4-FFF2-40B4-BE49-F238E27FC236}">
                <a16:creationId xmlns:a16="http://schemas.microsoft.com/office/drawing/2014/main" id="{CACDEDFF-3D35-498E-B642-CA0A7D4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62375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DESCRIBE THE PLOTS</a:t>
            </a:r>
          </a:p>
        </p:txBody>
      </p:sp>
      <p:sp>
        <p:nvSpPr>
          <p:cNvPr id="17" name="closing-text-2">
            <a:extLst xmlns:a="http://schemas.openxmlformats.org/drawingml/2006/main">
              <a:ext uri="{FF2B5EF4-FFF2-40B4-BE49-F238E27FC236}">
                <a16:creationId xmlns:a16="http://schemas.microsoft.com/office/drawing/2014/main" id="{05C80194-0083-4807-BA86-7B66A54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shape, potential outliers, group differences and order patterns</a:t>
            </a:r>
          </a:p>
        </p:txBody>
      </p:sp>
      <p:sp>
        <p:nvSpPr>
          <p:cNvPr id="18" name="closing-rule-2">
            <a:extLst xmlns:a="http://schemas.openxmlformats.org/drawingml/2006/main">
              <a:ext uri="{FF2B5EF4-FFF2-40B4-BE49-F238E27FC236}">
                <a16:creationId xmlns:a16="http://schemas.microsoft.com/office/drawing/2014/main" id="{53F13FFE-1B08-47F3-B669-C117FD1C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B57"/>
            </a:solidFill>
            <a:prstDash val="solid"/>
          </a:ln>
        </p:spPr>
      </p:sp>
      <p:sp>
        <p:nvSpPr>
          <p:cNvPr id="19" name="closing-no-3">
            <a:extLst xmlns:a="http://schemas.openxmlformats.org/drawingml/2006/main">
              <a:ext uri="{FF2B5EF4-FFF2-40B4-BE49-F238E27FC236}">
                <a16:creationId xmlns:a16="http://schemas.microsoft.com/office/drawing/2014/main" id="{35107AA5-EE0F-4555-9CF7-E3663C9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08A5D"/>
                </a:solidFill>
                <a:latin typeface="Aptos Display"/>
                <a:ea typeface="Aptos Display"/>
                <a:cs typeface="Aptos Display"/>
              </a:defRPr>
            </a:pPr>
            <a:r>
              <a:t>04</a:t>
            </a:r>
          </a:p>
        </p:txBody>
      </p:sp>
      <p:sp>
        <p:nvSpPr>
          <p:cNvPr id="20" name="closing-label-3">
            <a:extLst xmlns:a="http://schemas.openxmlformats.org/drawingml/2006/main">
              <a:ext uri="{FF2B5EF4-FFF2-40B4-BE49-F238E27FC236}">
                <a16:creationId xmlns:a16="http://schemas.microsoft.com/office/drawing/2014/main" id="{33A73425-5EE6-4327-983F-B39B8BD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672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RESPECT THE BOUNDARY</a:t>
            </a:r>
          </a:p>
        </p:txBody>
      </p:sp>
      <p:sp>
        <p:nvSpPr>
          <p:cNvPr id="21" name="closing-text-3">
            <a:extLst xmlns:a="http://schemas.openxmlformats.org/drawingml/2006/main">
              <a:ext uri="{FF2B5EF4-FFF2-40B4-BE49-F238E27FC236}">
                <a16:creationId xmlns:a16="http://schemas.microsoft.com/office/drawing/2014/main" id="{DB4E613F-E3A1-462A-B616-B3B447A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7C7CD"/>
                </a:solidFill>
                <a:latin typeface="Aptos"/>
                <a:ea typeface="Aptos"/>
                <a:cs typeface="Aptos"/>
              </a:defRPr>
            </a:pPr>
            <a:r>
              <a:t>do not turn a sample description into a population claim</a:t>
            </a:r>
          </a:p>
        </p:txBody>
      </p:sp>
      <p:sp>
        <p:nvSpPr>
          <p:cNvPr id="22" name="closing-example-band">
            <a:extLst xmlns:a="http://schemas.openxmlformats.org/drawingml/2006/main">
              <a:ext uri="{FF2B5EF4-FFF2-40B4-BE49-F238E27FC236}">
                <a16:creationId xmlns:a16="http://schemas.microsoft.com/office/drawing/2014/main" id="{B8EA18CB-B6F3-4286-B312-6F55EFE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572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132733"/>
          </a:solidFill>
          <a:ln xmlns:a="http://schemas.openxmlformats.org/drawingml/2006/main" w="9525">
            <a:solidFill>
              <a:srgbClr val="405765"/>
            </a:solidFill>
            <a:prstDash val="solid"/>
          </a:ln>
        </p:spPr>
      </p:sp>
      <p:sp>
        <p:nvSpPr>
          <p:cNvPr id="23" name="closing-example">
            <a:extLst xmlns:a="http://schemas.openxmlformats.org/drawingml/2006/main">
              <a:ext uri="{FF2B5EF4-FFF2-40B4-BE49-F238E27FC236}">
                <a16:creationId xmlns:a16="http://schemas.microsoft.com/office/drawing/2014/main" id="{B76EA69D-3B33-484C-AD33-DA3DB9C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08A5D"/>
                </a:solidFill>
                <a:latin typeface="Aptos"/>
                <a:ea typeface="Aptos"/>
                <a:cs typeface="Aptos"/>
              </a:rPr>
              <a:t>Example: </a:t>
            </a:r>
            <a:r>
              <a:rPr sz="16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these 180 plates are centred near 250 µm; line B appears more variable in the observed sample.</a:t>
            </a:r>
          </a:p>
        </p:txBody>
      </p:sp>
    </p:spTree>
    <p:extLst>
      <p:ext uri="{BB962C8B-B14F-4D97-AF65-F5344CB8AC3E}">
        <p14:creationId xmlns:p14="http://schemas.microsoft.com/office/powerpoint/2010/main" val="8427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2026-08-31T22:43:06.8760000Z</dcterms:created>
  <dcterms:modified xsi:type="dcterms:W3CDTF">2026-08-31T22:43:06.8760000Z</dcterms:modified>
</coreProperties>
</file>